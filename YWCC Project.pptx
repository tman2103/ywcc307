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9144000"/>
  <p:notesSz cx="6858000" cy="9144000"/>
  <p:embeddedFontLst>
    <p:embeddedFont>
      <p:font typeface="Robo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3" roundtripDataSignature="AMtx7mh8ixZf+hmIgeh0Z+rU/uW55CU+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11" Type="http://schemas.openxmlformats.org/officeDocument/2006/relationships/slide" Target="slides/slide6.xml"/><Relationship Id="rId22" Type="http://schemas.openxmlformats.org/officeDocument/2006/relationships/font" Target="fonts/Roboto-boldItalic.fntdata"/><Relationship Id="rId10" Type="http://schemas.openxmlformats.org/officeDocument/2006/relationships/slide" Target="slides/slide5.xml"/><Relationship Id="rId21" Type="http://schemas.openxmlformats.org/officeDocument/2006/relationships/font" Target="fonts/Roboto-italic.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"Good [morning/afternoon], everyone. Today, I’ll be talking about why cybersecurity is no longer just an IT concern in healthcare—it's a critical part of patient safety.</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Healthcare breaches cost an average of </a:t>
            </a:r>
            <a:r>
              <a:rPr b="1" lang="en-US">
                <a:solidFill>
                  <a:schemeClr val="dk1"/>
                </a:solidFill>
              </a:rPr>
              <a:t>$10.93 million per incident</a:t>
            </a:r>
            <a:r>
              <a:rPr lang="en-US">
                <a:solidFill>
                  <a:schemeClr val="dk1"/>
                </a:solidFill>
              </a:rPr>
              <a:t>, the highest across all industries. Hospitals aren’t just protecting data—they’re protecting </a:t>
            </a:r>
            <a:r>
              <a:rPr b="1" lang="en-US">
                <a:solidFill>
                  <a:schemeClr val="dk1"/>
                </a:solidFill>
              </a:rPr>
              <a:t>people’s lives</a:t>
            </a:r>
            <a:r>
              <a:rPr lang="en-US">
                <a:solidFill>
                  <a:schemeClr val="dk1"/>
                </a:solidFill>
              </a:rPr>
              <a:t>. When systems go down, surgeries get delayed, treatments are paused, and patient trust erodes. This makes cybersecurity not optional, but essential."</a:t>
            </a:r>
            <a:endParaRPr/>
          </a:p>
        </p:txBody>
      </p:sp>
      <p:sp>
        <p:nvSpPr>
          <p:cNvPr id="77" name="Google Shape;7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"Healthcare has unfortunately become the </a:t>
            </a:r>
            <a:r>
              <a:rPr b="1" lang="en-US">
                <a:solidFill>
                  <a:schemeClr val="dk1"/>
                </a:solidFill>
              </a:rPr>
              <a:t>#1 target</a:t>
            </a:r>
            <a:r>
              <a:rPr lang="en-US">
                <a:solidFill>
                  <a:schemeClr val="dk1"/>
                </a:solidFill>
              </a:rPr>
              <a:t> for ransomware attacks. Why? Because the stakes are so high.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 the same time, the expansion of </a:t>
            </a:r>
            <a:r>
              <a:rPr b="1" lang="en-US">
                <a:solidFill>
                  <a:schemeClr val="dk1"/>
                </a:solidFill>
              </a:rPr>
              <a:t>connected medical devices</a:t>
            </a:r>
            <a:r>
              <a:rPr lang="en-US">
                <a:solidFill>
                  <a:schemeClr val="dk1"/>
                </a:solidFill>
              </a:rPr>
              <a:t>, like insulin pumps and heart monitors, increases vulnerabilities. And </a:t>
            </a:r>
            <a:r>
              <a:rPr b="1" lang="en-US">
                <a:solidFill>
                  <a:schemeClr val="dk1"/>
                </a:solidFill>
              </a:rPr>
              <a:t>supply chain attacks</a:t>
            </a:r>
            <a:r>
              <a:rPr lang="en-US">
                <a:solidFill>
                  <a:schemeClr val="dk1"/>
                </a:solidFill>
              </a:rPr>
              <a:t>—where hackers go after third-party vendors—are growing more common. This combination of high value and high vulnerability makes healthcare a perfect storm for attackers."</a:t>
            </a:r>
            <a:endParaRPr>
              <a:solidFill>
                <a:schemeClr val="dk1"/>
              </a:solidFill>
            </a:endParaRPr>
          </a:p>
          <a:p>
            <a:pPr indent="0" lvl="0" marL="0" rtl="0" algn="l">
              <a:spcBef>
                <a:spcPts val="1200"/>
              </a:spcBef>
              <a:spcAft>
                <a:spcPts val="0"/>
              </a:spcAft>
              <a:buNone/>
            </a:pPr>
            <a:r>
              <a:t/>
            </a:r>
            <a:endParaRPr/>
          </a:p>
        </p:txBody>
      </p:sp>
      <p:sp>
        <p:nvSpPr>
          <p:cNvPr id="83" name="Google Shape;8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"Let’s take a look at the most common threats hospitals face.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a:t>
            </a:r>
            <a:r>
              <a:rPr b="1" lang="en-US">
                <a:solidFill>
                  <a:schemeClr val="dk1"/>
                </a:solidFill>
              </a:rPr>
              <a:t>ransomware</a:t>
            </a:r>
            <a:r>
              <a:rPr lang="en-US">
                <a:solidFill>
                  <a:schemeClr val="dk1"/>
                </a:solidFill>
              </a:rPr>
              <a:t>—up by 37% from 2020 to 2024—locks down entire hospital systems. Then there’s </a:t>
            </a:r>
            <a:r>
              <a:rPr b="1" lang="en-US">
                <a:solidFill>
                  <a:schemeClr val="dk1"/>
                </a:solidFill>
              </a:rPr>
              <a:t>phishing</a:t>
            </a:r>
            <a:r>
              <a:rPr lang="en-US">
                <a:solidFill>
                  <a:schemeClr val="dk1"/>
                </a:solidFill>
              </a:rPr>
              <a:t>, where deceptive emails trick staff into giving away passwords. </a:t>
            </a:r>
            <a:r>
              <a:rPr b="1" lang="en-US">
                <a:solidFill>
                  <a:schemeClr val="dk1"/>
                </a:solidFill>
              </a:rPr>
              <a:t>Data breaches</a:t>
            </a:r>
            <a:r>
              <a:rPr lang="en-US">
                <a:solidFill>
                  <a:schemeClr val="dk1"/>
                </a:solidFill>
              </a:rPr>
              <a:t> follow, with stolen medical records often selling for </a:t>
            </a:r>
            <a:r>
              <a:rPr b="1" lang="en-US">
                <a:solidFill>
                  <a:schemeClr val="dk1"/>
                </a:solidFill>
              </a:rPr>
              <a:t>10 times</a:t>
            </a:r>
            <a:r>
              <a:rPr lang="en-US">
                <a:solidFill>
                  <a:schemeClr val="dk1"/>
                </a:solidFill>
              </a:rPr>
              <a:t> more than credit card info. And finally, </a:t>
            </a:r>
            <a:r>
              <a:rPr b="1" lang="en-US">
                <a:solidFill>
                  <a:schemeClr val="dk1"/>
                </a:solidFill>
              </a:rPr>
              <a:t>IoT vulnerabilities</a:t>
            </a:r>
            <a:r>
              <a:rPr lang="en-US">
                <a:solidFill>
                  <a:schemeClr val="dk1"/>
                </a:solidFill>
              </a:rPr>
              <a:t>—many devices run outdated or unsecured software, opening the door for attackers."</a:t>
            </a:r>
            <a:endParaRPr>
              <a:solidFill>
                <a:schemeClr val="dk1"/>
              </a:solidFill>
            </a:endParaRPr>
          </a:p>
          <a:p>
            <a:pPr indent="0" lvl="0" marL="0" rtl="0" algn="l">
              <a:spcBef>
                <a:spcPts val="1200"/>
              </a:spcBef>
              <a:spcAft>
                <a:spcPts val="0"/>
              </a:spcAft>
              <a:buNone/>
            </a:pPr>
            <a:r>
              <a:t/>
            </a:r>
            <a:endParaRPr/>
          </a:p>
        </p:txBody>
      </p:sp>
      <p:sp>
        <p:nvSpPr>
          <p:cNvPr id="90" name="Google Shape;9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"Now, how do these attacks happen?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 big one is </a:t>
            </a:r>
            <a:r>
              <a:rPr b="1" lang="en-US">
                <a:solidFill>
                  <a:schemeClr val="dk1"/>
                </a:solidFill>
              </a:rPr>
              <a:t>email spoofing</a:t>
            </a:r>
            <a:r>
              <a:rPr lang="en-US">
                <a:solidFill>
                  <a:schemeClr val="dk1"/>
                </a:solidFill>
              </a:rPr>
              <a:t>—attackers pose as trusted sources to gain access. Hospitals also use </a:t>
            </a:r>
            <a:r>
              <a:rPr b="1" lang="en-US">
                <a:solidFill>
                  <a:schemeClr val="dk1"/>
                </a:solidFill>
              </a:rPr>
              <a:t>unsecured devices</a:t>
            </a:r>
            <a:r>
              <a:rPr lang="en-US">
                <a:solidFill>
                  <a:schemeClr val="dk1"/>
                </a:solidFill>
              </a:rPr>
              <a:t> or outdated software, which are easy for hackers to exploit. Then there's </a:t>
            </a:r>
            <a:r>
              <a:rPr b="1" lang="en-US">
                <a:solidFill>
                  <a:schemeClr val="dk1"/>
                </a:solidFill>
              </a:rPr>
              <a:t>social engineering</a:t>
            </a:r>
            <a:r>
              <a:rPr lang="en-US">
                <a:solidFill>
                  <a:schemeClr val="dk1"/>
                </a:solidFill>
              </a:rPr>
              <a:t>, where attackers manipulate staff through phone calls or emails. And of course, </a:t>
            </a:r>
            <a:r>
              <a:rPr b="1" lang="en-US">
                <a:solidFill>
                  <a:schemeClr val="dk1"/>
                </a:solidFill>
              </a:rPr>
              <a:t>supply chain breaches</a:t>
            </a:r>
            <a:r>
              <a:rPr lang="en-US">
                <a:solidFill>
                  <a:schemeClr val="dk1"/>
                </a:solidFill>
              </a:rPr>
              <a:t>, where third-party vendors are targeted as weak links."</a:t>
            </a:r>
            <a:endParaRPr>
              <a:solidFill>
                <a:schemeClr val="dk1"/>
              </a:solidFill>
            </a:endParaRPr>
          </a:p>
          <a:p>
            <a:pPr indent="0" lvl="0" marL="0" rtl="0" algn="l">
              <a:spcBef>
                <a:spcPts val="1200"/>
              </a:spcBef>
              <a:spcAft>
                <a:spcPts val="0"/>
              </a:spcAft>
              <a:buNone/>
            </a:pPr>
            <a:r>
              <a:t/>
            </a:r>
            <a:endParaRPr/>
          </a:p>
        </p:txBody>
      </p:sp>
      <p:sp>
        <p:nvSpPr>
          <p:cNvPr id="96" name="Google Shape;9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 real-world example is the </a:t>
            </a:r>
            <a:r>
              <a:rPr b="1" lang="en-US">
                <a:solidFill>
                  <a:schemeClr val="dk1"/>
                </a:solidFill>
              </a:rPr>
              <a:t>WannaCry ransomware attack</a:t>
            </a:r>
            <a:r>
              <a:rPr lang="en-US">
                <a:solidFill>
                  <a:schemeClr val="dk1"/>
                </a:solidFill>
              </a:rPr>
              <a:t> in 2017.</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It hit the UK’s NHS hard, canceling thousands of appointments and costing over </a:t>
            </a:r>
            <a:r>
              <a:rPr b="1" lang="en-US">
                <a:solidFill>
                  <a:schemeClr val="dk1"/>
                </a:solidFill>
              </a:rPr>
              <a:t>$120 million</a:t>
            </a:r>
            <a:r>
              <a:rPr lang="en-US">
                <a:solidFill>
                  <a:schemeClr val="dk1"/>
                </a:solidFill>
              </a:rPr>
              <a:t>. Many systems had skipped basic software updates, which allowed the malware to spread rapidly. This incident revealed just how devastating even a single cyberattack can be for a health system."</a:t>
            </a:r>
            <a:endParaRPr>
              <a:solidFill>
                <a:schemeClr val="dk1"/>
              </a:solidFill>
            </a:endParaRPr>
          </a:p>
          <a:p>
            <a:pPr indent="0" lvl="0" marL="0" rtl="0" algn="l">
              <a:spcBef>
                <a:spcPts val="1200"/>
              </a:spcBef>
              <a:spcAft>
                <a:spcPts val="0"/>
              </a:spcAft>
              <a:buNone/>
            </a:pPr>
            <a:r>
              <a:t/>
            </a:r>
            <a:endParaRPr/>
          </a:p>
        </p:txBody>
      </p:sp>
      <p:sp>
        <p:nvSpPr>
          <p:cNvPr id="104" name="Google Shape;10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how can hospitals prepare?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a:t>
            </a:r>
            <a:r>
              <a:rPr b="1" lang="en-US">
                <a:solidFill>
                  <a:schemeClr val="dk1"/>
                </a:solidFill>
              </a:rPr>
              <a:t>employee training</a:t>
            </a:r>
            <a:r>
              <a:rPr lang="en-US">
                <a:solidFill>
                  <a:schemeClr val="dk1"/>
                </a:solidFill>
              </a:rPr>
              <a:t>—staff must learn to recognize phishing emails and report them. Then implement </a:t>
            </a:r>
            <a:r>
              <a:rPr b="1" lang="en-US">
                <a:solidFill>
                  <a:schemeClr val="dk1"/>
                </a:solidFill>
              </a:rPr>
              <a:t>multi-factor authentication</a:t>
            </a:r>
            <a:r>
              <a:rPr lang="en-US">
                <a:solidFill>
                  <a:schemeClr val="dk1"/>
                </a:solidFill>
              </a:rPr>
              <a:t>, so that passwords alone aren’t enough. </a:t>
            </a:r>
            <a:r>
              <a:rPr b="1" lang="en-US">
                <a:solidFill>
                  <a:schemeClr val="dk1"/>
                </a:solidFill>
              </a:rPr>
              <a:t>Network segmentation</a:t>
            </a:r>
            <a:r>
              <a:rPr lang="en-US">
                <a:solidFill>
                  <a:schemeClr val="dk1"/>
                </a:solidFill>
              </a:rPr>
              <a:t> is also crucial—it isolates systems, so if one part is compromised, it doesn’t spread. Finally, </a:t>
            </a:r>
            <a:r>
              <a:rPr b="1" lang="en-US">
                <a:solidFill>
                  <a:schemeClr val="dk1"/>
                </a:solidFill>
              </a:rPr>
              <a:t>regular software updates</a:t>
            </a:r>
            <a:r>
              <a:rPr lang="en-US">
                <a:solidFill>
                  <a:schemeClr val="dk1"/>
                </a:solidFill>
              </a:rPr>
              <a:t>—many breaches come through known vulnerabilities that just weren’t patched."</a:t>
            </a:r>
            <a:endParaRPr>
              <a:solidFill>
                <a:schemeClr val="dk1"/>
              </a:solidFill>
            </a:endParaRPr>
          </a:p>
          <a:p>
            <a:pPr indent="0" lvl="0" marL="0" rtl="0" algn="l">
              <a:spcBef>
                <a:spcPts val="1200"/>
              </a:spcBef>
              <a:spcAft>
                <a:spcPts val="0"/>
              </a:spcAft>
              <a:buNone/>
            </a:pPr>
            <a:r>
              <a:t/>
            </a:r>
            <a:endParaRPr/>
          </a:p>
        </p:txBody>
      </p:sp>
      <p:sp>
        <p:nvSpPr>
          <p:cNvPr id="111" name="Google Shape;11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"Beyond that, hospitals need to </a:t>
            </a:r>
            <a:r>
              <a:rPr b="1" lang="en-US">
                <a:solidFill>
                  <a:schemeClr val="dk1"/>
                </a:solidFill>
              </a:rPr>
              <a:t>harden their infrastructure</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They must manage </a:t>
            </a:r>
            <a:r>
              <a:rPr b="1" lang="en-US">
                <a:solidFill>
                  <a:schemeClr val="dk1"/>
                </a:solidFill>
              </a:rPr>
              <a:t>vendor risk</a:t>
            </a:r>
            <a:r>
              <a:rPr lang="en-US">
                <a:solidFill>
                  <a:schemeClr val="dk1"/>
                </a:solidFill>
              </a:rPr>
              <a:t>—not all third parties have strong cybersecurity. They also need </a:t>
            </a:r>
            <a:r>
              <a:rPr b="1" lang="en-US">
                <a:solidFill>
                  <a:schemeClr val="dk1"/>
                </a:solidFill>
              </a:rPr>
              <a:t>secure daily backups</a:t>
            </a:r>
            <a:r>
              <a:rPr lang="en-US">
                <a:solidFill>
                  <a:schemeClr val="dk1"/>
                </a:solidFill>
              </a:rPr>
              <a:t>, kept off-site, to allow for quick recovery. Having an </a:t>
            </a:r>
            <a:r>
              <a:rPr b="1" lang="en-US">
                <a:solidFill>
                  <a:schemeClr val="dk1"/>
                </a:solidFill>
              </a:rPr>
              <a:t>incident response plan</a:t>
            </a:r>
            <a:r>
              <a:rPr lang="en-US">
                <a:solidFill>
                  <a:schemeClr val="dk1"/>
                </a:solidFill>
              </a:rPr>
              <a:t> in place means everyone knows what to do when something happens. And regular </a:t>
            </a:r>
            <a:r>
              <a:rPr b="1" lang="en-US">
                <a:solidFill>
                  <a:schemeClr val="dk1"/>
                </a:solidFill>
              </a:rPr>
              <a:t>penetration testing</a:t>
            </a:r>
            <a:r>
              <a:rPr lang="en-US">
                <a:solidFill>
                  <a:schemeClr val="dk1"/>
                </a:solidFill>
              </a:rPr>
              <a:t>—ethical hacking—helps find weaknesses before the criminals do."</a:t>
            </a:r>
            <a:endParaRPr>
              <a:solidFill>
                <a:schemeClr val="dk1"/>
              </a:solidFill>
            </a:endParaRPr>
          </a:p>
          <a:p>
            <a:pPr indent="0" lvl="0" marL="0" rtl="0" algn="l">
              <a:spcBef>
                <a:spcPts val="1200"/>
              </a:spcBef>
              <a:spcAft>
                <a:spcPts val="0"/>
              </a:spcAft>
              <a:buNone/>
            </a:pPr>
            <a:r>
              <a:t/>
            </a:r>
            <a:endParaRPr/>
          </a:p>
        </p:txBody>
      </p:sp>
      <p:sp>
        <p:nvSpPr>
          <p:cNvPr id="117" name="Google Shape;11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"Modern cybersecurity also requires a mindset shift.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Continuous monitoring</a:t>
            </a:r>
            <a:r>
              <a:rPr lang="en-US">
                <a:solidFill>
                  <a:schemeClr val="dk1"/>
                </a:solidFill>
              </a:rPr>
              <a:t> helps detect suspicious activity early. Promoting a </a:t>
            </a:r>
            <a:r>
              <a:rPr b="1" lang="en-US">
                <a:solidFill>
                  <a:schemeClr val="dk1"/>
                </a:solidFill>
              </a:rPr>
              <a:t>security-aware culture</a:t>
            </a:r>
            <a:r>
              <a:rPr lang="en-US">
                <a:solidFill>
                  <a:schemeClr val="dk1"/>
                </a:solidFill>
              </a:rPr>
              <a:t> ensures every staff member plays a part. And adopting a </a:t>
            </a:r>
            <a:r>
              <a:rPr b="1" lang="en-US">
                <a:solidFill>
                  <a:schemeClr val="dk1"/>
                </a:solidFill>
              </a:rPr>
              <a:t>Zero Trust Architecture</a:t>
            </a:r>
            <a:r>
              <a:rPr lang="en-US">
                <a:solidFill>
                  <a:schemeClr val="dk1"/>
                </a:solidFill>
              </a:rPr>
              <a:t>—which assumes no device or user is automatically trusted—adds an extra layer of protection by limiting access until verified."</a:t>
            </a:r>
            <a:endParaRPr>
              <a:solidFill>
                <a:schemeClr val="dk1"/>
              </a:solidFill>
            </a:endParaRPr>
          </a:p>
          <a:p>
            <a:pPr indent="0" lvl="0" marL="0" rtl="0" algn="l">
              <a:spcBef>
                <a:spcPts val="1200"/>
              </a:spcBef>
              <a:spcAft>
                <a:spcPts val="0"/>
              </a:spcAft>
              <a:buNone/>
            </a:pPr>
            <a:r>
              <a:t/>
            </a:r>
            <a:endParaRPr/>
          </a:p>
        </p:txBody>
      </p:sp>
      <p:sp>
        <p:nvSpPr>
          <p:cNvPr id="123" name="Google Shape;12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"Let’s look at a success story.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2022, a </a:t>
            </a:r>
            <a:r>
              <a:rPr b="1" lang="en-US">
                <a:solidFill>
                  <a:schemeClr val="dk1"/>
                </a:solidFill>
              </a:rPr>
              <a:t>California hospital</a:t>
            </a:r>
            <a:r>
              <a:rPr lang="en-US">
                <a:solidFill>
                  <a:schemeClr val="dk1"/>
                </a:solidFill>
              </a:rPr>
              <a:t> stopped a ransomware attack. Their staff </a:t>
            </a:r>
            <a:r>
              <a:rPr b="1" lang="en-US">
                <a:solidFill>
                  <a:schemeClr val="dk1"/>
                </a:solidFill>
              </a:rPr>
              <a:t>recognized a suspicious email</a:t>
            </a:r>
            <a:r>
              <a:rPr lang="en-US">
                <a:solidFill>
                  <a:schemeClr val="dk1"/>
                </a:solidFill>
              </a:rPr>
              <a:t>, reported it immediately, and IT teams </a:t>
            </a:r>
            <a:r>
              <a:rPr b="1" lang="en-US">
                <a:solidFill>
                  <a:schemeClr val="dk1"/>
                </a:solidFill>
              </a:rPr>
              <a:t>segmented and isolated</a:t>
            </a:r>
            <a:r>
              <a:rPr lang="en-US">
                <a:solidFill>
                  <a:schemeClr val="dk1"/>
                </a:solidFill>
              </a:rPr>
              <a:t> the network. They restored everything from </a:t>
            </a:r>
            <a:r>
              <a:rPr b="1" lang="en-US">
                <a:solidFill>
                  <a:schemeClr val="dk1"/>
                </a:solidFill>
              </a:rPr>
              <a:t>secure backups in under 48 hours</a:t>
            </a:r>
            <a:r>
              <a:rPr lang="en-US">
                <a:solidFill>
                  <a:schemeClr val="dk1"/>
                </a:solidFill>
              </a:rPr>
              <a:t>. No ransom was paid. This proves that </a:t>
            </a:r>
            <a:r>
              <a:rPr b="1" lang="en-US">
                <a:solidFill>
                  <a:schemeClr val="dk1"/>
                </a:solidFill>
              </a:rPr>
              <a:t>preparation works</a:t>
            </a:r>
            <a:r>
              <a:rPr lang="en-US">
                <a:solidFill>
                  <a:schemeClr val="dk1"/>
                </a:solidFill>
              </a:rPr>
              <a:t>—and it saves time, money, and potentially lives."</a:t>
            </a:r>
            <a:endParaRPr>
              <a:solidFill>
                <a:schemeClr val="dk1"/>
              </a:solidFill>
            </a:endParaRPr>
          </a:p>
          <a:p>
            <a:pPr indent="0" lvl="0" marL="0" rtl="0" algn="l">
              <a:spcBef>
                <a:spcPts val="1200"/>
              </a:spcBef>
              <a:spcAft>
                <a:spcPts val="0"/>
              </a:spcAft>
              <a:buNone/>
            </a:pPr>
            <a:r>
              <a:t/>
            </a:r>
            <a:endParaRPr/>
          </a:p>
        </p:txBody>
      </p:sp>
      <p:sp>
        <p:nvSpPr>
          <p:cNvPr id="130" name="Google Shape;13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conclusion, </a:t>
            </a:r>
            <a:r>
              <a:rPr b="1" lang="en-US">
                <a:solidFill>
                  <a:schemeClr val="dk1"/>
                </a:solidFill>
              </a:rPr>
              <a:t>cybersecurity is patient safety</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Hospitals can no longer treat it as an afterthought. The threats are real, the consequences are high—but so are the solutions. By investing in training, technology, and layered defense strategies, hospitals can prevent attacks and build trust with the communities they serve.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Preparing today protects lives tomorrow</a:t>
            </a:r>
            <a:r>
              <a:rPr lang="en-US">
                <a:solidFill>
                  <a:schemeClr val="dk1"/>
                </a:solidFill>
              </a:rPr>
              <a:t>—and that’s a mission every healthcare provider should stand behind.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Thank you."</a:t>
            </a:r>
            <a:endParaRPr>
              <a:solidFill>
                <a:schemeClr val="dk1"/>
              </a:solidFill>
            </a:endParaRPr>
          </a:p>
          <a:p>
            <a:pPr indent="0" lvl="0" marL="0" rtl="0" algn="l">
              <a:spcBef>
                <a:spcPts val="1200"/>
              </a:spcBef>
              <a:spcAft>
                <a:spcPts val="0"/>
              </a:spcAft>
              <a:buNone/>
            </a:pPr>
            <a:r>
              <a:t/>
            </a:r>
            <a:endParaRPr/>
          </a:p>
        </p:txBody>
      </p:sp>
      <p:sp>
        <p:nvSpPr>
          <p:cNvPr id="136" name="Google Shape;13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51b009c4e4_1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51b009c4e4_1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51b009c4e4_1_57"/>
          <p:cNvSpPr/>
          <p:nvPr/>
        </p:nvSpPr>
        <p:spPr>
          <a:xfrm flipH="1">
            <a:off x="8246400" y="5661233"/>
            <a:ext cx="897600" cy="11967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g351b009c4e4_1_57"/>
          <p:cNvSpPr/>
          <p:nvPr/>
        </p:nvSpPr>
        <p:spPr>
          <a:xfrm flipH="1">
            <a:off x="8246400" y="5661167"/>
            <a:ext cx="897600" cy="11967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g351b009c4e4_1_57"/>
          <p:cNvSpPr txBox="1"/>
          <p:nvPr>
            <p:ph type="ctrTitle"/>
          </p:nvPr>
        </p:nvSpPr>
        <p:spPr>
          <a:xfrm>
            <a:off x="390525" y="2425700"/>
            <a:ext cx="8222100" cy="12447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g351b009c4e4_1_57"/>
          <p:cNvSpPr txBox="1"/>
          <p:nvPr>
            <p:ph idx="1" type="subTitle"/>
          </p:nvPr>
        </p:nvSpPr>
        <p:spPr>
          <a:xfrm>
            <a:off x="390525" y="3718840"/>
            <a:ext cx="8222100" cy="577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g351b009c4e4_1_57"/>
          <p:cNvSpPr txBox="1"/>
          <p:nvPr>
            <p:ph idx="12" type="sldNum"/>
          </p:nvPr>
        </p:nvSpPr>
        <p:spPr>
          <a:xfrm>
            <a:off x="8523541" y="6260831"/>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g351b009c4e4_1_63"/>
          <p:cNvSpPr txBox="1"/>
          <p:nvPr>
            <p:ph type="title"/>
          </p:nvPr>
        </p:nvSpPr>
        <p:spPr>
          <a:xfrm>
            <a:off x="460950" y="2753800"/>
            <a:ext cx="8222100" cy="13503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g351b009c4e4_1_63"/>
          <p:cNvSpPr txBox="1"/>
          <p:nvPr>
            <p:ph idx="12" type="sldNum"/>
          </p:nvPr>
        </p:nvSpPr>
        <p:spPr>
          <a:xfrm>
            <a:off x="8523541" y="6260831"/>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g351b009c4e4_1_66"/>
          <p:cNvSpPr/>
          <p:nvPr/>
        </p:nvSpPr>
        <p:spPr>
          <a:xfrm flipH="1" rot="10800000">
            <a:off x="0" y="2247900"/>
            <a:ext cx="9144000" cy="4610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g351b009c4e4_1_66"/>
          <p:cNvSpPr/>
          <p:nvPr/>
        </p:nvSpPr>
        <p:spPr>
          <a:xfrm>
            <a:off x="0" y="2248000"/>
            <a:ext cx="9144000" cy="1449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g351b009c4e4_1_66"/>
          <p:cNvSpPr txBox="1"/>
          <p:nvPr>
            <p:ph type="title"/>
          </p:nvPr>
        </p:nvSpPr>
        <p:spPr>
          <a:xfrm>
            <a:off x="471900" y="984967"/>
            <a:ext cx="8222100" cy="10236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g351b009c4e4_1_66"/>
          <p:cNvSpPr txBox="1"/>
          <p:nvPr>
            <p:ph idx="1" type="body"/>
          </p:nvPr>
        </p:nvSpPr>
        <p:spPr>
          <a:xfrm>
            <a:off x="471900" y="2558767"/>
            <a:ext cx="8222100" cy="36135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g351b009c4e4_1_66"/>
          <p:cNvSpPr txBox="1"/>
          <p:nvPr>
            <p:ph idx="12" type="sldNum"/>
          </p:nvPr>
        </p:nvSpPr>
        <p:spPr>
          <a:xfrm>
            <a:off x="8523541" y="6260831"/>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51b009c4e4_1_72"/>
          <p:cNvSpPr/>
          <p:nvPr/>
        </p:nvSpPr>
        <p:spPr>
          <a:xfrm flipH="1" rot="10800000">
            <a:off x="0" y="2247900"/>
            <a:ext cx="9144000" cy="4610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g351b009c4e4_1_72"/>
          <p:cNvSpPr/>
          <p:nvPr/>
        </p:nvSpPr>
        <p:spPr>
          <a:xfrm>
            <a:off x="0" y="2248000"/>
            <a:ext cx="9144000" cy="1449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351b009c4e4_1_72"/>
          <p:cNvSpPr txBox="1"/>
          <p:nvPr>
            <p:ph type="title"/>
          </p:nvPr>
        </p:nvSpPr>
        <p:spPr>
          <a:xfrm>
            <a:off x="471900" y="984967"/>
            <a:ext cx="8222100" cy="10236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g351b009c4e4_1_72"/>
          <p:cNvSpPr txBox="1"/>
          <p:nvPr>
            <p:ph idx="1" type="body"/>
          </p:nvPr>
        </p:nvSpPr>
        <p:spPr>
          <a:xfrm>
            <a:off x="471900" y="2558767"/>
            <a:ext cx="3999900" cy="3613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g351b009c4e4_1_72"/>
          <p:cNvSpPr txBox="1"/>
          <p:nvPr>
            <p:ph idx="2" type="body"/>
          </p:nvPr>
        </p:nvSpPr>
        <p:spPr>
          <a:xfrm>
            <a:off x="4694250" y="2558767"/>
            <a:ext cx="3999900" cy="3613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g351b009c4e4_1_72"/>
          <p:cNvSpPr txBox="1"/>
          <p:nvPr>
            <p:ph idx="12" type="sldNum"/>
          </p:nvPr>
        </p:nvSpPr>
        <p:spPr>
          <a:xfrm>
            <a:off x="8523541" y="6260831"/>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g351b009c4e4_1_79"/>
          <p:cNvSpPr/>
          <p:nvPr/>
        </p:nvSpPr>
        <p:spPr>
          <a:xfrm flipH="1" rot="10800000">
            <a:off x="0" y="875100"/>
            <a:ext cx="9144000" cy="5982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g351b009c4e4_1_79"/>
          <p:cNvSpPr/>
          <p:nvPr/>
        </p:nvSpPr>
        <p:spPr>
          <a:xfrm>
            <a:off x="0" y="875133"/>
            <a:ext cx="9144000" cy="1449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g351b009c4e4_1_79"/>
          <p:cNvSpPr txBox="1"/>
          <p:nvPr>
            <p:ph type="title"/>
          </p:nvPr>
        </p:nvSpPr>
        <p:spPr>
          <a:xfrm>
            <a:off x="98250" y="21800"/>
            <a:ext cx="8826600" cy="803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g351b009c4e4_1_79"/>
          <p:cNvSpPr txBox="1"/>
          <p:nvPr>
            <p:ph idx="12" type="sldNum"/>
          </p:nvPr>
        </p:nvSpPr>
        <p:spPr>
          <a:xfrm>
            <a:off x="8523541" y="6260831"/>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g351b009c4e4_1_84"/>
          <p:cNvSpPr txBox="1"/>
          <p:nvPr/>
        </p:nvSpPr>
        <p:spPr>
          <a:xfrm flipH="1" rot="10800000">
            <a:off x="3276600" y="33"/>
            <a:ext cx="5867400" cy="68580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g351b009c4e4_1_84"/>
          <p:cNvSpPr/>
          <p:nvPr/>
        </p:nvSpPr>
        <p:spPr>
          <a:xfrm rot="-5400000">
            <a:off x="-98100" y="3374700"/>
            <a:ext cx="6858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g351b009c4e4_1_84"/>
          <p:cNvSpPr txBox="1"/>
          <p:nvPr>
            <p:ph type="title"/>
          </p:nvPr>
        </p:nvSpPr>
        <p:spPr>
          <a:xfrm>
            <a:off x="226078" y="477067"/>
            <a:ext cx="2808000" cy="12711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g351b009c4e4_1_84"/>
          <p:cNvSpPr txBox="1"/>
          <p:nvPr>
            <p:ph idx="1" type="body"/>
          </p:nvPr>
        </p:nvSpPr>
        <p:spPr>
          <a:xfrm>
            <a:off x="226075" y="1954400"/>
            <a:ext cx="2808000" cy="421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g351b009c4e4_1_84"/>
          <p:cNvSpPr txBox="1"/>
          <p:nvPr>
            <p:ph idx="12" type="sldNum"/>
          </p:nvPr>
        </p:nvSpPr>
        <p:spPr>
          <a:xfrm>
            <a:off x="8523541" y="6260831"/>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g351b009c4e4_1_90"/>
          <p:cNvSpPr txBox="1"/>
          <p:nvPr>
            <p:ph type="title"/>
          </p:nvPr>
        </p:nvSpPr>
        <p:spPr>
          <a:xfrm>
            <a:off x="490250" y="651000"/>
            <a:ext cx="62271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g351b009c4e4_1_90"/>
          <p:cNvSpPr txBox="1"/>
          <p:nvPr>
            <p:ph idx="12" type="sldNum"/>
          </p:nvPr>
        </p:nvSpPr>
        <p:spPr>
          <a:xfrm>
            <a:off x="8523541" y="6260831"/>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g351b009c4e4_1_93"/>
          <p:cNvSpPr/>
          <p:nvPr/>
        </p:nvSpPr>
        <p:spPr>
          <a:xfrm flipH="1">
            <a:off x="0" y="0"/>
            <a:ext cx="4572000" cy="68580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g351b009c4e4_1_93"/>
          <p:cNvSpPr/>
          <p:nvPr/>
        </p:nvSpPr>
        <p:spPr>
          <a:xfrm rot="5400000">
            <a:off x="1089325" y="3375050"/>
            <a:ext cx="68571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g351b009c4e4_1_93"/>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g351b009c4e4_1_93"/>
          <p:cNvSpPr txBox="1"/>
          <p:nvPr>
            <p:ph idx="1" type="subTitle"/>
          </p:nvPr>
        </p:nvSpPr>
        <p:spPr>
          <a:xfrm>
            <a:off x="265500" y="3705956"/>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g351b009c4e4_1_93"/>
          <p:cNvSpPr txBox="1"/>
          <p:nvPr>
            <p:ph idx="2" type="body"/>
          </p:nvPr>
        </p:nvSpPr>
        <p:spPr>
          <a:xfrm>
            <a:off x="4939500" y="965600"/>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g351b009c4e4_1_93"/>
          <p:cNvSpPr txBox="1"/>
          <p:nvPr>
            <p:ph idx="12" type="sldNum"/>
          </p:nvPr>
        </p:nvSpPr>
        <p:spPr>
          <a:xfrm>
            <a:off x="8523541" y="6260831"/>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g351b009c4e4_1_100"/>
          <p:cNvSpPr txBox="1"/>
          <p:nvPr/>
        </p:nvSpPr>
        <p:spPr>
          <a:xfrm flipH="1" rot="10800000">
            <a:off x="0" y="-100"/>
            <a:ext cx="9144000" cy="6261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g351b009c4e4_1_100"/>
          <p:cNvSpPr/>
          <p:nvPr/>
        </p:nvSpPr>
        <p:spPr>
          <a:xfrm flipH="1" rot="10800000">
            <a:off x="0" y="6163733"/>
            <a:ext cx="9144000" cy="987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g351b009c4e4_1_100"/>
          <p:cNvSpPr txBox="1"/>
          <p:nvPr>
            <p:ph idx="1" type="body"/>
          </p:nvPr>
        </p:nvSpPr>
        <p:spPr>
          <a:xfrm>
            <a:off x="57150" y="6262433"/>
            <a:ext cx="8382000" cy="595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g351b009c4e4_1_100"/>
          <p:cNvSpPr txBox="1"/>
          <p:nvPr>
            <p:ph idx="12" type="sldNum"/>
          </p:nvPr>
        </p:nvSpPr>
        <p:spPr>
          <a:xfrm>
            <a:off x="8523541" y="6260831"/>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g351b009c4e4_1_105"/>
          <p:cNvSpPr txBox="1"/>
          <p:nvPr>
            <p:ph hasCustomPrompt="1" type="title"/>
          </p:nvPr>
        </p:nvSpPr>
        <p:spPr>
          <a:xfrm>
            <a:off x="475500" y="1678033"/>
            <a:ext cx="8222100" cy="26181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g351b009c4e4_1_105"/>
          <p:cNvSpPr txBox="1"/>
          <p:nvPr>
            <p:ph idx="1" type="body"/>
          </p:nvPr>
        </p:nvSpPr>
        <p:spPr>
          <a:xfrm>
            <a:off x="475500" y="4406167"/>
            <a:ext cx="82221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g351b009c4e4_1_105"/>
          <p:cNvSpPr txBox="1"/>
          <p:nvPr>
            <p:ph idx="12" type="sldNum"/>
          </p:nvPr>
        </p:nvSpPr>
        <p:spPr>
          <a:xfrm>
            <a:off x="8523541" y="6260831"/>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g351b009c4e4_1_109"/>
          <p:cNvSpPr txBox="1"/>
          <p:nvPr>
            <p:ph idx="12" type="sldNum"/>
          </p:nvPr>
        </p:nvSpPr>
        <p:spPr>
          <a:xfrm>
            <a:off x="8523541" y="6260831"/>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3" name="Shape 63"/>
        <p:cNvGrpSpPr/>
        <p:nvPr/>
      </p:nvGrpSpPr>
      <p:grpSpPr>
        <a:xfrm>
          <a:off x="0" y="0"/>
          <a:ext cx="0" cy="0"/>
          <a:chOff x="0" y="0"/>
          <a:chExt cx="0" cy="0"/>
        </a:xfrm>
      </p:grpSpPr>
      <p:sp>
        <p:nvSpPr>
          <p:cNvPr id="64" name="Google Shape;64;g351b009c4e4_1_1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65" name="Google Shape;65;g351b009c4e4_1_11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66" name="Google Shape;66;g351b009c4e4_1_11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g351b009c4e4_1_11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g351b009c4e4_1_11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g351b009c4e4_1_53"/>
          <p:cNvSpPr txBox="1"/>
          <p:nvPr>
            <p:ph type="title"/>
          </p:nvPr>
        </p:nvSpPr>
        <p:spPr>
          <a:xfrm>
            <a:off x="471900" y="984967"/>
            <a:ext cx="8222100" cy="10236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g351b009c4e4_1_53"/>
          <p:cNvSpPr txBox="1"/>
          <p:nvPr>
            <p:ph idx="1" type="body"/>
          </p:nvPr>
        </p:nvSpPr>
        <p:spPr>
          <a:xfrm>
            <a:off x="471900" y="2558767"/>
            <a:ext cx="8222100" cy="36135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g351b009c4e4_1_53"/>
          <p:cNvSpPr txBox="1"/>
          <p:nvPr>
            <p:ph idx="12" type="sldNum"/>
          </p:nvPr>
        </p:nvSpPr>
        <p:spPr>
          <a:xfrm>
            <a:off x="8523541" y="6260831"/>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mc:Choice Requires="p14">
      <p:transition spd="med">
        <p14:prism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hyperlink" Target="https://www.chiefhealthcareexecutive.com/view/average-cost-of-healthcare-data-breach-rises-to-nearly-11m" TargetMode="External"/><Relationship Id="rId4" Type="http://schemas.openxmlformats.org/officeDocument/2006/relationships/hyperlink" Target="https://www.fiercehealthcare.com/health-tech/healthcare-remains-top-target-cybercriminals-uptick-hacking-attacks-2024" TargetMode="External"/><Relationship Id="rId5" Type="http://schemas.openxmlformats.org/officeDocument/2006/relationships/hyperlink" Target="https://cybelangel.com/healthcare-industry-guide-cyber/" TargetMode="External"/><Relationship Id="rId6" Type="http://schemas.openxmlformats.org/officeDocument/2006/relationships/hyperlink" Target="https://www.cyberpolicy.com/cybersecurity-education/why-medical-records-are-10-times-more-valuable-than-credit-card-inf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2" name="Shape 72"/>
        <p:cNvGrpSpPr/>
        <p:nvPr/>
      </p:nvGrpSpPr>
      <p:grpSpPr>
        <a:xfrm>
          <a:off x="0" y="0"/>
          <a:ext cx="0" cy="0"/>
          <a:chOff x="0" y="0"/>
          <a:chExt cx="0" cy="0"/>
        </a:xfrm>
      </p:grpSpPr>
      <p:sp>
        <p:nvSpPr>
          <p:cNvPr id="73" name="Google Shape;73;p1"/>
          <p:cNvSpPr txBox="1"/>
          <p:nvPr>
            <p:ph type="ctrTitle"/>
          </p:nvPr>
        </p:nvSpPr>
        <p:spPr>
          <a:xfrm>
            <a:off x="685800" y="2112200"/>
            <a:ext cx="7772400" cy="1470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Protecting Hospitals from Digital Threats</a:t>
            </a:r>
            <a:endParaRPr/>
          </a:p>
        </p:txBody>
      </p:sp>
      <p:sp>
        <p:nvSpPr>
          <p:cNvPr id="74" name="Google Shape;74;p1"/>
          <p:cNvSpPr txBox="1"/>
          <p:nvPr>
            <p:ph idx="1" type="subTitle"/>
          </p:nvPr>
        </p:nvSpPr>
        <p:spPr>
          <a:xfrm>
            <a:off x="390525" y="3718840"/>
            <a:ext cx="8222100" cy="5772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ctr">
              <a:spcBef>
                <a:spcPts val="0"/>
              </a:spcBef>
              <a:spcAft>
                <a:spcPts val="0"/>
              </a:spcAft>
              <a:buClr>
                <a:srgbClr val="888888"/>
              </a:buClr>
              <a:buSzPct val="177777"/>
              <a:buNone/>
            </a:pPr>
            <a:r>
              <a:rPr lang="en-US"/>
              <a:t>YWCC 307 Team Project</a:t>
            </a:r>
            <a:endParaRPr/>
          </a:p>
          <a:p>
            <a:pPr indent="0" lvl="0" marL="0" rtl="0" algn="l">
              <a:spcBef>
                <a:spcPts val="640"/>
              </a:spcBef>
              <a:spcAft>
                <a:spcPts val="0"/>
              </a:spcAft>
              <a:buClr>
                <a:srgbClr val="888888"/>
              </a:buClr>
              <a:buSzPct val="177777"/>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78" name="Shape 78"/>
        <p:cNvGrpSpPr/>
        <p:nvPr/>
      </p:nvGrpSpPr>
      <p:grpSpPr>
        <a:xfrm>
          <a:off x="0" y="0"/>
          <a:ext cx="0" cy="0"/>
          <a:chOff x="0" y="0"/>
          <a:chExt cx="0" cy="0"/>
        </a:xfrm>
      </p:grpSpPr>
      <p:sp>
        <p:nvSpPr>
          <p:cNvPr id="79" name="Google Shape;79;p2"/>
          <p:cNvSpPr txBox="1"/>
          <p:nvPr>
            <p:ph type="title"/>
          </p:nvPr>
        </p:nvSpPr>
        <p:spPr>
          <a:xfrm>
            <a:off x="471900" y="650903"/>
            <a:ext cx="8222100" cy="13578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latin typeface="Calibri"/>
                <a:ea typeface="Calibri"/>
                <a:cs typeface="Calibri"/>
                <a:sym typeface="Calibri"/>
              </a:rPr>
              <a:t>Why Cybersecurity Matters in Healthcare</a:t>
            </a:r>
            <a:endParaRPr/>
          </a:p>
        </p:txBody>
      </p:sp>
      <p:sp>
        <p:nvSpPr>
          <p:cNvPr id="80" name="Google Shape;80;p2"/>
          <p:cNvSpPr txBox="1"/>
          <p:nvPr>
            <p:ph idx="1" type="body"/>
          </p:nvPr>
        </p:nvSpPr>
        <p:spPr>
          <a:xfrm>
            <a:off x="609600" y="2375475"/>
            <a:ext cx="8229600" cy="3903300"/>
          </a:xfrm>
          <a:prstGeom prst="rect">
            <a:avLst/>
          </a:prstGeom>
          <a:noFill/>
          <a:ln>
            <a:noFill/>
          </a:ln>
        </p:spPr>
        <p:txBody>
          <a:bodyPr anchorCtr="0" anchor="t" bIns="45700" lIns="91425" spcFirstLastPara="1" rIns="91425" wrap="square" tIns="45700">
            <a:normAutofit/>
          </a:bodyPr>
          <a:lstStyle/>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Healthcare breaches cost $10.93M on average per incident.</a:t>
            </a:r>
            <a:endParaRPr>
              <a:solidFill>
                <a:schemeClr val="dk2"/>
              </a:solidFill>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Hospitals manage sensitive patient data and critical systems.</a:t>
            </a:r>
            <a:endParaRPr>
              <a:solidFill>
                <a:schemeClr val="dk2"/>
              </a:solidFill>
            </a:endParaRPr>
          </a:p>
          <a:p>
            <a:pPr indent="-342900" lvl="0" marL="342900" rtl="0" algn="l">
              <a:spcBef>
                <a:spcPts val="640"/>
              </a:spcBef>
              <a:spcAft>
                <a:spcPts val="1200"/>
              </a:spcAft>
              <a:buClr>
                <a:schemeClr val="dk2"/>
              </a:buClr>
              <a:buSzPts val="3200"/>
              <a:buChar char="●"/>
            </a:pPr>
            <a:r>
              <a:rPr lang="en-US" sz="3200">
                <a:solidFill>
                  <a:schemeClr val="dk2"/>
                </a:solidFill>
                <a:latin typeface="Calibri"/>
                <a:ea typeface="Calibri"/>
                <a:cs typeface="Calibri"/>
                <a:sym typeface="Calibri"/>
              </a:rPr>
              <a:t>Cyberattacks can disrupt patient care and risk lives.</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0">
                                            <p:txEl>
                                              <p:pRg end="0" st="0"/>
                                            </p:txEl>
                                          </p:spTgt>
                                        </p:tgtEl>
                                        <p:attrNameLst>
                                          <p:attrName>style.visibility</p:attrName>
                                        </p:attrNameLst>
                                      </p:cBhvr>
                                      <p:to>
                                        <p:strVal val="visible"/>
                                      </p:to>
                                    </p:set>
                                    <p:anim calcmode="lin" valueType="num">
                                      <p:cBhvr additive="base">
                                        <p:cTn dur="1000"/>
                                        <p:tgtEl>
                                          <p:spTgt spid="8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0">
                                            <p:txEl>
                                              <p:pRg end="1" st="1"/>
                                            </p:txEl>
                                          </p:spTgt>
                                        </p:tgtEl>
                                        <p:attrNameLst>
                                          <p:attrName>style.visibility</p:attrName>
                                        </p:attrNameLst>
                                      </p:cBhvr>
                                      <p:to>
                                        <p:strVal val="visible"/>
                                      </p:to>
                                    </p:set>
                                    <p:anim calcmode="lin" valueType="num">
                                      <p:cBhvr additive="base">
                                        <p:cTn dur="1000"/>
                                        <p:tgtEl>
                                          <p:spTgt spid="80">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0">
                                            <p:txEl>
                                              <p:pRg end="2" st="2"/>
                                            </p:txEl>
                                          </p:spTgt>
                                        </p:tgtEl>
                                        <p:attrNameLst>
                                          <p:attrName>style.visibility</p:attrName>
                                        </p:attrNameLst>
                                      </p:cBhvr>
                                      <p:to>
                                        <p:strVal val="visible"/>
                                      </p:to>
                                    </p:set>
                                    <p:anim calcmode="lin" valueType="num">
                                      <p:cBhvr additive="base">
                                        <p:cTn dur="1000"/>
                                        <p:tgtEl>
                                          <p:spTgt spid="80">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84" name="Shape 84"/>
        <p:cNvGrpSpPr/>
        <p:nvPr/>
      </p:nvGrpSpPr>
      <p:grpSpPr>
        <a:xfrm>
          <a:off x="0" y="0"/>
          <a:ext cx="0" cy="0"/>
          <a:chOff x="0" y="0"/>
          <a:chExt cx="0" cy="0"/>
        </a:xfrm>
      </p:grpSpPr>
      <p:sp>
        <p:nvSpPr>
          <p:cNvPr id="85" name="Google Shape;85;p3"/>
          <p:cNvSpPr txBox="1"/>
          <p:nvPr>
            <p:ph type="title"/>
          </p:nvPr>
        </p:nvSpPr>
        <p:spPr>
          <a:xfrm>
            <a:off x="471900" y="984967"/>
            <a:ext cx="8222100" cy="1023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The Rising Threat Landscape</a:t>
            </a:r>
            <a:endParaRPr/>
          </a:p>
        </p:txBody>
      </p:sp>
      <p:sp>
        <p:nvSpPr>
          <p:cNvPr id="86" name="Google Shape;86;p3"/>
          <p:cNvSpPr txBox="1"/>
          <p:nvPr>
            <p:ph idx="1" type="body"/>
          </p:nvPr>
        </p:nvSpPr>
        <p:spPr>
          <a:xfrm>
            <a:off x="471900" y="2558775"/>
            <a:ext cx="5010600" cy="3613500"/>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Expansion of connected devices increases risks.</a:t>
            </a:r>
            <a:endParaRPr>
              <a:solidFill>
                <a:schemeClr val="dk2"/>
              </a:solidFill>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Supply chain vulnerabilities are growing.</a:t>
            </a:r>
            <a:endParaRPr sz="3200">
              <a:solidFill>
                <a:schemeClr val="dk2"/>
              </a:solidFill>
              <a:latin typeface="Calibri"/>
              <a:ea typeface="Calibri"/>
              <a:cs typeface="Calibri"/>
              <a:sym typeface="Calibri"/>
            </a:endParaRPr>
          </a:p>
          <a:p>
            <a:pPr indent="-342900" lvl="0" marL="342900" rtl="0" algn="l">
              <a:spcBef>
                <a:spcPts val="1200"/>
              </a:spcBef>
              <a:spcAft>
                <a:spcPts val="1200"/>
              </a:spcAft>
              <a:buClr>
                <a:schemeClr val="dk2"/>
              </a:buClr>
              <a:buSzPts val="3200"/>
              <a:buChar char="●"/>
            </a:pPr>
            <a:r>
              <a:rPr lang="en-US" sz="3200">
                <a:solidFill>
                  <a:schemeClr val="dk2"/>
                </a:solidFill>
                <a:latin typeface="Calibri"/>
                <a:ea typeface="Calibri"/>
                <a:cs typeface="Calibri"/>
                <a:sym typeface="Calibri"/>
              </a:rPr>
              <a:t>Healthcare is the #1 targeted industry  for ransomware attacks.</a:t>
            </a:r>
            <a:endParaRPr sz="3200">
              <a:solidFill>
                <a:schemeClr val="dk2"/>
              </a:solidFill>
              <a:latin typeface="Calibri"/>
              <a:ea typeface="Calibri"/>
              <a:cs typeface="Calibri"/>
              <a:sym typeface="Calibri"/>
            </a:endParaRPr>
          </a:p>
        </p:txBody>
      </p:sp>
      <p:pic>
        <p:nvPicPr>
          <p:cNvPr id="87" name="Google Shape;87;p3"/>
          <p:cNvPicPr preferRelativeResize="0"/>
          <p:nvPr/>
        </p:nvPicPr>
        <p:blipFill>
          <a:blip r:embed="rId3">
            <a:alphaModFix/>
          </a:blip>
          <a:stretch>
            <a:fillRect/>
          </a:stretch>
        </p:blipFill>
        <p:spPr>
          <a:xfrm>
            <a:off x="5737375" y="3522925"/>
            <a:ext cx="3106599" cy="1747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6">
                                            <p:txEl>
                                              <p:pRg end="0" st="0"/>
                                            </p:txEl>
                                          </p:spTgt>
                                        </p:tgtEl>
                                        <p:attrNameLst>
                                          <p:attrName>style.visibility</p:attrName>
                                        </p:attrNameLst>
                                      </p:cBhvr>
                                      <p:to>
                                        <p:strVal val="visible"/>
                                      </p:to>
                                    </p:set>
                                    <p:anim calcmode="lin" valueType="num">
                                      <p:cBhvr additive="base">
                                        <p:cTn dur="1000"/>
                                        <p:tgtEl>
                                          <p:spTgt spid="8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6">
                                            <p:txEl>
                                              <p:pRg end="1" st="1"/>
                                            </p:txEl>
                                          </p:spTgt>
                                        </p:tgtEl>
                                        <p:attrNameLst>
                                          <p:attrName>style.visibility</p:attrName>
                                        </p:attrNameLst>
                                      </p:cBhvr>
                                      <p:to>
                                        <p:strVal val="visible"/>
                                      </p:to>
                                    </p:set>
                                    <p:anim calcmode="lin" valueType="num">
                                      <p:cBhvr additive="base">
                                        <p:cTn dur="1000"/>
                                        <p:tgtEl>
                                          <p:spTgt spid="86">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6">
                                            <p:txEl>
                                              <p:pRg end="2" st="2"/>
                                            </p:txEl>
                                          </p:spTgt>
                                        </p:tgtEl>
                                        <p:attrNameLst>
                                          <p:attrName>style.visibility</p:attrName>
                                        </p:attrNameLst>
                                      </p:cBhvr>
                                      <p:to>
                                        <p:strVal val="visible"/>
                                      </p:to>
                                    </p:set>
                                    <p:anim calcmode="lin" valueType="num">
                                      <p:cBhvr additive="base">
                                        <p:cTn dur="1000"/>
                                        <p:tgtEl>
                                          <p:spTgt spid="86">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91" name="Shape 91"/>
        <p:cNvGrpSpPr/>
        <p:nvPr/>
      </p:nvGrpSpPr>
      <p:grpSpPr>
        <a:xfrm>
          <a:off x="0" y="0"/>
          <a:ext cx="0" cy="0"/>
          <a:chOff x="0" y="0"/>
          <a:chExt cx="0" cy="0"/>
        </a:xfrm>
      </p:grpSpPr>
      <p:sp>
        <p:nvSpPr>
          <p:cNvPr id="92" name="Google Shape;92;p4"/>
          <p:cNvSpPr txBox="1"/>
          <p:nvPr>
            <p:ph type="title"/>
          </p:nvPr>
        </p:nvSpPr>
        <p:spPr>
          <a:xfrm>
            <a:off x="471900" y="984967"/>
            <a:ext cx="8222100" cy="1023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Key Threats</a:t>
            </a:r>
            <a:endParaRPr/>
          </a:p>
        </p:txBody>
      </p:sp>
      <p:sp>
        <p:nvSpPr>
          <p:cNvPr id="93" name="Google Shape;93;p4"/>
          <p:cNvSpPr txBox="1"/>
          <p:nvPr>
            <p:ph idx="1" type="body"/>
          </p:nvPr>
        </p:nvSpPr>
        <p:spPr>
          <a:xfrm>
            <a:off x="471900" y="2558767"/>
            <a:ext cx="8222100" cy="3613500"/>
          </a:xfrm>
          <a:prstGeom prst="rect">
            <a:avLst/>
          </a:prstGeom>
          <a:noFill/>
          <a:ln>
            <a:noFill/>
          </a:ln>
        </p:spPr>
        <p:txBody>
          <a:bodyPr anchorCtr="0" anchor="t" bIns="45700" lIns="91425" spcFirstLastPara="1" rIns="91425" wrap="square" tIns="45700">
            <a:normAutofit/>
          </a:bodyPr>
          <a:lstStyle/>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Ransomware Attacks</a:t>
            </a:r>
            <a:endParaRPr sz="3200">
              <a:solidFill>
                <a:schemeClr val="dk2"/>
              </a:solidFill>
              <a:latin typeface="Calibri"/>
              <a:ea typeface="Calibri"/>
              <a:cs typeface="Calibri"/>
              <a:sym typeface="Calibri"/>
            </a:endParaRPr>
          </a:p>
          <a:p>
            <a:pPr indent="-374650" lvl="1" marL="914400" rtl="0" algn="l">
              <a:spcBef>
                <a:spcPts val="640"/>
              </a:spcBef>
              <a:spcAft>
                <a:spcPts val="0"/>
              </a:spcAft>
              <a:buClr>
                <a:schemeClr val="dk2"/>
              </a:buClr>
              <a:buSzPts val="2300"/>
              <a:buFont typeface="Calibri"/>
              <a:buChar char="○"/>
            </a:pPr>
            <a:r>
              <a:rPr lang="en-US" sz="2300">
                <a:solidFill>
                  <a:schemeClr val="dk2"/>
                </a:solidFill>
                <a:latin typeface="Calibri"/>
                <a:ea typeface="Calibri"/>
                <a:cs typeface="Calibri"/>
                <a:sym typeface="Calibri"/>
              </a:rPr>
              <a:t>37% Growth from 2020-2024</a:t>
            </a:r>
            <a:endParaRPr sz="2300">
              <a:solidFill>
                <a:schemeClr val="dk2"/>
              </a:solidFill>
              <a:latin typeface="Calibri"/>
              <a:ea typeface="Calibri"/>
              <a:cs typeface="Calibri"/>
              <a:sym typeface="Calibri"/>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Phishing Campaigns</a:t>
            </a:r>
            <a:endParaRPr>
              <a:solidFill>
                <a:schemeClr val="dk2"/>
              </a:solidFill>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Data Breaches</a:t>
            </a:r>
            <a:endParaRPr>
              <a:solidFill>
                <a:schemeClr val="dk2"/>
              </a:solidFill>
            </a:endParaRPr>
          </a:p>
          <a:p>
            <a:pPr indent="-342900" lvl="0" marL="342900" rtl="0" algn="l">
              <a:spcBef>
                <a:spcPts val="640"/>
              </a:spcBef>
              <a:spcAft>
                <a:spcPts val="1200"/>
              </a:spcAft>
              <a:buClr>
                <a:schemeClr val="dk2"/>
              </a:buClr>
              <a:buSzPts val="3200"/>
              <a:buChar char="●"/>
            </a:pPr>
            <a:r>
              <a:rPr lang="en-US" sz="3200">
                <a:solidFill>
                  <a:schemeClr val="dk2"/>
                </a:solidFill>
                <a:latin typeface="Calibri"/>
                <a:ea typeface="Calibri"/>
                <a:cs typeface="Calibri"/>
                <a:sym typeface="Calibri"/>
              </a:rPr>
              <a:t>IT Vulnerabilities</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3">
                                            <p:txEl>
                                              <p:pRg end="0" st="0"/>
                                            </p:txEl>
                                          </p:spTgt>
                                        </p:tgtEl>
                                        <p:attrNameLst>
                                          <p:attrName>style.visibility</p:attrName>
                                        </p:attrNameLst>
                                      </p:cBhvr>
                                      <p:to>
                                        <p:strVal val="visible"/>
                                      </p:to>
                                    </p:set>
                                    <p:anim calcmode="lin" valueType="num">
                                      <p:cBhvr additive="base">
                                        <p:cTn dur="1000"/>
                                        <p:tgtEl>
                                          <p:spTgt spid="9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3">
                                            <p:txEl>
                                              <p:pRg end="1" st="1"/>
                                            </p:txEl>
                                          </p:spTgt>
                                        </p:tgtEl>
                                        <p:attrNameLst>
                                          <p:attrName>style.visibility</p:attrName>
                                        </p:attrNameLst>
                                      </p:cBhvr>
                                      <p:to>
                                        <p:strVal val="visible"/>
                                      </p:to>
                                    </p:set>
                                    <p:anim calcmode="lin" valueType="num">
                                      <p:cBhvr additive="base">
                                        <p:cTn dur="1000"/>
                                        <p:tgtEl>
                                          <p:spTgt spid="9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3">
                                            <p:txEl>
                                              <p:pRg end="2" st="2"/>
                                            </p:txEl>
                                          </p:spTgt>
                                        </p:tgtEl>
                                        <p:attrNameLst>
                                          <p:attrName>style.visibility</p:attrName>
                                        </p:attrNameLst>
                                      </p:cBhvr>
                                      <p:to>
                                        <p:strVal val="visible"/>
                                      </p:to>
                                    </p:set>
                                    <p:anim calcmode="lin" valueType="num">
                                      <p:cBhvr additive="base">
                                        <p:cTn dur="1000"/>
                                        <p:tgtEl>
                                          <p:spTgt spid="9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3">
                                            <p:txEl>
                                              <p:pRg end="3" st="3"/>
                                            </p:txEl>
                                          </p:spTgt>
                                        </p:tgtEl>
                                        <p:attrNameLst>
                                          <p:attrName>style.visibility</p:attrName>
                                        </p:attrNameLst>
                                      </p:cBhvr>
                                      <p:to>
                                        <p:strVal val="visible"/>
                                      </p:to>
                                    </p:set>
                                    <p:anim calcmode="lin" valueType="num">
                                      <p:cBhvr additive="base">
                                        <p:cTn dur="1000"/>
                                        <p:tgtEl>
                                          <p:spTgt spid="93">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3">
                                            <p:txEl>
                                              <p:pRg end="4" st="4"/>
                                            </p:txEl>
                                          </p:spTgt>
                                        </p:tgtEl>
                                        <p:attrNameLst>
                                          <p:attrName>style.visibility</p:attrName>
                                        </p:attrNameLst>
                                      </p:cBhvr>
                                      <p:to>
                                        <p:strVal val="visible"/>
                                      </p:to>
                                    </p:set>
                                    <p:anim calcmode="lin" valueType="num">
                                      <p:cBhvr additive="base">
                                        <p:cTn dur="1000"/>
                                        <p:tgtEl>
                                          <p:spTgt spid="93">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97" name="Shape 97"/>
        <p:cNvGrpSpPr/>
        <p:nvPr/>
      </p:nvGrpSpPr>
      <p:grpSpPr>
        <a:xfrm>
          <a:off x="0" y="0"/>
          <a:ext cx="0" cy="0"/>
          <a:chOff x="0" y="0"/>
          <a:chExt cx="0" cy="0"/>
        </a:xfrm>
      </p:grpSpPr>
      <p:sp>
        <p:nvSpPr>
          <p:cNvPr id="98" name="Google Shape;98;p5"/>
          <p:cNvSpPr txBox="1"/>
          <p:nvPr>
            <p:ph type="title"/>
          </p:nvPr>
        </p:nvSpPr>
        <p:spPr>
          <a:xfrm>
            <a:off x="471900" y="984967"/>
            <a:ext cx="8222100" cy="1023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Modes of Attack</a:t>
            </a:r>
            <a:endParaRPr/>
          </a:p>
        </p:txBody>
      </p:sp>
      <p:sp>
        <p:nvSpPr>
          <p:cNvPr id="99" name="Google Shape;99;p5"/>
          <p:cNvSpPr txBox="1"/>
          <p:nvPr>
            <p:ph idx="1" type="body"/>
          </p:nvPr>
        </p:nvSpPr>
        <p:spPr>
          <a:xfrm>
            <a:off x="471900" y="2558775"/>
            <a:ext cx="4359600" cy="3613500"/>
          </a:xfrm>
          <a:prstGeom prst="rect">
            <a:avLst/>
          </a:prstGeom>
          <a:noFill/>
          <a:ln>
            <a:noFill/>
          </a:ln>
        </p:spPr>
        <p:txBody>
          <a:bodyPr anchorCtr="0" anchor="t" bIns="45700" lIns="91425" spcFirstLastPara="1" rIns="91425" wrap="square" tIns="45700">
            <a:normAutofit/>
          </a:bodyPr>
          <a:lstStyle/>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Email Spoofing and Phishing</a:t>
            </a:r>
            <a:endParaRPr>
              <a:solidFill>
                <a:schemeClr val="dk2"/>
              </a:solidFill>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Unsecured Devices</a:t>
            </a:r>
            <a:endParaRPr>
              <a:solidFill>
                <a:schemeClr val="dk2"/>
              </a:solidFill>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Social Engineering</a:t>
            </a:r>
            <a:endParaRPr>
              <a:solidFill>
                <a:schemeClr val="dk2"/>
              </a:solidFill>
            </a:endParaRPr>
          </a:p>
          <a:p>
            <a:pPr indent="-342900" lvl="0" marL="342900" rtl="0" algn="l">
              <a:spcBef>
                <a:spcPts val="640"/>
              </a:spcBef>
              <a:spcAft>
                <a:spcPts val="1200"/>
              </a:spcAft>
              <a:buClr>
                <a:schemeClr val="dk2"/>
              </a:buClr>
              <a:buSzPts val="3200"/>
              <a:buChar char="●"/>
            </a:pPr>
            <a:r>
              <a:rPr lang="en-US" sz="3200">
                <a:solidFill>
                  <a:schemeClr val="dk2"/>
                </a:solidFill>
                <a:latin typeface="Calibri"/>
                <a:ea typeface="Calibri"/>
                <a:cs typeface="Calibri"/>
                <a:sym typeface="Calibri"/>
              </a:rPr>
              <a:t>Supply Chain Breaches</a:t>
            </a:r>
            <a:endParaRPr>
              <a:solidFill>
                <a:schemeClr val="dk2"/>
              </a:solidFill>
            </a:endParaRPr>
          </a:p>
        </p:txBody>
      </p:sp>
      <p:pic>
        <p:nvPicPr>
          <p:cNvPr id="100" name="Google Shape;100;p5"/>
          <p:cNvPicPr preferRelativeResize="0"/>
          <p:nvPr/>
        </p:nvPicPr>
        <p:blipFill>
          <a:blip r:embed="rId3">
            <a:alphaModFix/>
          </a:blip>
          <a:stretch>
            <a:fillRect/>
          </a:stretch>
        </p:blipFill>
        <p:spPr>
          <a:xfrm>
            <a:off x="5654850" y="4259175"/>
            <a:ext cx="2934175" cy="2364277"/>
          </a:xfrm>
          <a:prstGeom prst="rect">
            <a:avLst/>
          </a:prstGeom>
          <a:noFill/>
          <a:ln>
            <a:noFill/>
          </a:ln>
        </p:spPr>
      </p:pic>
      <p:pic>
        <p:nvPicPr>
          <p:cNvPr id="101" name="Google Shape;101;p5"/>
          <p:cNvPicPr preferRelativeResize="0"/>
          <p:nvPr/>
        </p:nvPicPr>
        <p:blipFill>
          <a:blip r:embed="rId4">
            <a:alphaModFix/>
          </a:blip>
          <a:stretch>
            <a:fillRect/>
          </a:stretch>
        </p:blipFill>
        <p:spPr>
          <a:xfrm>
            <a:off x="4885876" y="2630475"/>
            <a:ext cx="2250399" cy="1409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000"/>
                                        <p:tgtEl>
                                          <p:spTgt spid="1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1000"/>
                                        <p:tgtEl>
                                          <p:spTgt spid="9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000"/>
                                        <p:tgtEl>
                                          <p:spTgt spid="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05" name="Shape 105"/>
        <p:cNvGrpSpPr/>
        <p:nvPr/>
      </p:nvGrpSpPr>
      <p:grpSpPr>
        <a:xfrm>
          <a:off x="0" y="0"/>
          <a:ext cx="0" cy="0"/>
          <a:chOff x="0" y="0"/>
          <a:chExt cx="0" cy="0"/>
        </a:xfrm>
      </p:grpSpPr>
      <p:sp>
        <p:nvSpPr>
          <p:cNvPr id="106" name="Google Shape;106;p6"/>
          <p:cNvSpPr txBox="1"/>
          <p:nvPr>
            <p:ph type="title"/>
          </p:nvPr>
        </p:nvSpPr>
        <p:spPr>
          <a:xfrm>
            <a:off x="471900" y="984967"/>
            <a:ext cx="8222100" cy="10236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latin typeface="Calibri"/>
                <a:ea typeface="Calibri"/>
                <a:cs typeface="Calibri"/>
                <a:sym typeface="Calibri"/>
              </a:rPr>
              <a:t>Case Study: WannaCry Ransomware</a:t>
            </a:r>
            <a:endParaRPr/>
          </a:p>
        </p:txBody>
      </p:sp>
      <p:sp>
        <p:nvSpPr>
          <p:cNvPr id="107" name="Google Shape;107;p6"/>
          <p:cNvSpPr txBox="1"/>
          <p:nvPr>
            <p:ph idx="1" type="body"/>
          </p:nvPr>
        </p:nvSpPr>
        <p:spPr>
          <a:xfrm>
            <a:off x="471900" y="2558775"/>
            <a:ext cx="4701900" cy="3613500"/>
          </a:xfrm>
          <a:prstGeom prst="rect">
            <a:avLst/>
          </a:prstGeom>
          <a:noFill/>
          <a:ln>
            <a:noFill/>
          </a:ln>
        </p:spPr>
        <p:txBody>
          <a:bodyPr anchorCtr="0" anchor="t" bIns="45700" lIns="91425" spcFirstLastPara="1" rIns="91425" wrap="square" tIns="45700">
            <a:normAutofit/>
          </a:bodyPr>
          <a:lstStyle/>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2017: Hit UK's NHS hospitals.</a:t>
            </a:r>
            <a:endParaRPr>
              <a:solidFill>
                <a:schemeClr val="dk2"/>
              </a:solidFill>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Cost over $120 million in damages.</a:t>
            </a:r>
            <a:endParaRPr>
              <a:solidFill>
                <a:schemeClr val="dk2"/>
              </a:solidFill>
            </a:endParaRPr>
          </a:p>
          <a:p>
            <a:pPr indent="-342900" lvl="0" marL="342900" rtl="0" algn="l">
              <a:spcBef>
                <a:spcPts val="640"/>
              </a:spcBef>
              <a:spcAft>
                <a:spcPts val="1200"/>
              </a:spcAft>
              <a:buClr>
                <a:schemeClr val="dk2"/>
              </a:buClr>
              <a:buSzPts val="3200"/>
              <a:buChar char="●"/>
            </a:pPr>
            <a:r>
              <a:rPr lang="en-US" sz="3200">
                <a:solidFill>
                  <a:schemeClr val="dk2"/>
                </a:solidFill>
                <a:latin typeface="Calibri"/>
                <a:ea typeface="Calibri"/>
                <a:cs typeface="Calibri"/>
                <a:sym typeface="Calibri"/>
              </a:rPr>
              <a:t>Highlighted weaknesses in outdated systems.</a:t>
            </a:r>
            <a:endParaRPr>
              <a:solidFill>
                <a:schemeClr val="dk2"/>
              </a:solidFill>
            </a:endParaRPr>
          </a:p>
        </p:txBody>
      </p:sp>
      <p:pic>
        <p:nvPicPr>
          <p:cNvPr id="108" name="Google Shape;108;p6"/>
          <p:cNvPicPr preferRelativeResize="0"/>
          <p:nvPr/>
        </p:nvPicPr>
        <p:blipFill>
          <a:blip r:embed="rId3">
            <a:alphaModFix/>
          </a:blip>
          <a:stretch>
            <a:fillRect/>
          </a:stretch>
        </p:blipFill>
        <p:spPr>
          <a:xfrm>
            <a:off x="5379875" y="2634524"/>
            <a:ext cx="3189251" cy="2407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anim calcmode="lin" valueType="num">
                                      <p:cBhvr additive="base">
                                        <p:cTn dur="1000"/>
                                        <p:tgtEl>
                                          <p:spTgt spid="10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7">
                                            <p:txEl>
                                              <p:pRg end="1" st="1"/>
                                            </p:txEl>
                                          </p:spTgt>
                                        </p:tgtEl>
                                        <p:attrNameLst>
                                          <p:attrName>style.visibility</p:attrName>
                                        </p:attrNameLst>
                                      </p:cBhvr>
                                      <p:to>
                                        <p:strVal val="visible"/>
                                      </p:to>
                                    </p:set>
                                    <p:anim calcmode="lin" valueType="num">
                                      <p:cBhvr additive="base">
                                        <p:cTn dur="1000"/>
                                        <p:tgtEl>
                                          <p:spTgt spid="107">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7">
                                            <p:txEl>
                                              <p:pRg end="2" st="2"/>
                                            </p:txEl>
                                          </p:spTgt>
                                        </p:tgtEl>
                                        <p:attrNameLst>
                                          <p:attrName>style.visibility</p:attrName>
                                        </p:attrNameLst>
                                      </p:cBhvr>
                                      <p:to>
                                        <p:strVal val="visible"/>
                                      </p:to>
                                    </p:set>
                                    <p:anim calcmode="lin" valueType="num">
                                      <p:cBhvr additive="base">
                                        <p:cTn dur="1000"/>
                                        <p:tgtEl>
                                          <p:spTgt spid="107">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2" name="Shape 112"/>
        <p:cNvGrpSpPr/>
        <p:nvPr/>
      </p:nvGrpSpPr>
      <p:grpSpPr>
        <a:xfrm>
          <a:off x="0" y="0"/>
          <a:ext cx="0" cy="0"/>
          <a:chOff x="0" y="0"/>
          <a:chExt cx="0" cy="0"/>
        </a:xfrm>
      </p:grpSpPr>
      <p:sp>
        <p:nvSpPr>
          <p:cNvPr id="113" name="Google Shape;113;p7"/>
          <p:cNvSpPr txBox="1"/>
          <p:nvPr>
            <p:ph type="title"/>
          </p:nvPr>
        </p:nvSpPr>
        <p:spPr>
          <a:xfrm>
            <a:off x="471900" y="984967"/>
            <a:ext cx="8222100" cy="1023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Preparing for Cyber Threats</a:t>
            </a:r>
            <a:endParaRPr/>
          </a:p>
        </p:txBody>
      </p:sp>
      <p:sp>
        <p:nvSpPr>
          <p:cNvPr id="114" name="Google Shape;114;p7"/>
          <p:cNvSpPr txBox="1"/>
          <p:nvPr>
            <p:ph idx="1" type="body"/>
          </p:nvPr>
        </p:nvSpPr>
        <p:spPr>
          <a:xfrm>
            <a:off x="471900" y="2558767"/>
            <a:ext cx="8222100" cy="3613500"/>
          </a:xfrm>
          <a:prstGeom prst="rect">
            <a:avLst/>
          </a:prstGeom>
          <a:noFill/>
          <a:ln>
            <a:noFill/>
          </a:ln>
        </p:spPr>
        <p:txBody>
          <a:bodyPr anchorCtr="0" anchor="t" bIns="45700" lIns="91425" spcFirstLastPara="1" rIns="91425" wrap="square" tIns="45700">
            <a:normAutofit/>
          </a:bodyPr>
          <a:lstStyle/>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Employee Cybersecurity Training</a:t>
            </a:r>
            <a:endParaRPr>
              <a:solidFill>
                <a:schemeClr val="dk2"/>
              </a:solidFill>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Multi-Factor Authentication (MFA)</a:t>
            </a:r>
            <a:endParaRPr>
              <a:solidFill>
                <a:schemeClr val="dk2"/>
              </a:solidFill>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Network Segmentation</a:t>
            </a:r>
            <a:endParaRPr>
              <a:solidFill>
                <a:schemeClr val="dk2"/>
              </a:solidFill>
            </a:endParaRPr>
          </a:p>
          <a:p>
            <a:pPr indent="-342900" lvl="0" marL="342900" rtl="0" algn="l">
              <a:spcBef>
                <a:spcPts val="640"/>
              </a:spcBef>
              <a:spcAft>
                <a:spcPts val="1200"/>
              </a:spcAft>
              <a:buClr>
                <a:schemeClr val="dk2"/>
              </a:buClr>
              <a:buSzPts val="3200"/>
              <a:buChar char="●"/>
            </a:pPr>
            <a:r>
              <a:rPr lang="en-US" sz="3200">
                <a:solidFill>
                  <a:schemeClr val="dk2"/>
                </a:solidFill>
                <a:latin typeface="Calibri"/>
                <a:ea typeface="Calibri"/>
                <a:cs typeface="Calibri"/>
                <a:sym typeface="Calibri"/>
              </a:rPr>
              <a:t>Regular Software Updates</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 calcmode="lin" valueType="num">
                                      <p:cBhvr additive="base">
                                        <p:cTn dur="1000"/>
                                        <p:tgtEl>
                                          <p:spTgt spid="11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anim calcmode="lin" valueType="num">
                                      <p:cBhvr additive="base">
                                        <p:cTn dur="1000"/>
                                        <p:tgtEl>
                                          <p:spTgt spid="114">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anim calcmode="lin" valueType="num">
                                      <p:cBhvr additive="base">
                                        <p:cTn dur="1000"/>
                                        <p:tgtEl>
                                          <p:spTgt spid="114">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anim calcmode="lin" valueType="num">
                                      <p:cBhvr additive="base">
                                        <p:cTn dur="1000"/>
                                        <p:tgtEl>
                                          <p:spTgt spid="114">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18" name="Shape 118"/>
        <p:cNvGrpSpPr/>
        <p:nvPr/>
      </p:nvGrpSpPr>
      <p:grpSpPr>
        <a:xfrm>
          <a:off x="0" y="0"/>
          <a:ext cx="0" cy="0"/>
          <a:chOff x="0" y="0"/>
          <a:chExt cx="0" cy="0"/>
        </a:xfrm>
      </p:grpSpPr>
      <p:sp>
        <p:nvSpPr>
          <p:cNvPr id="119" name="Google Shape;119;p8"/>
          <p:cNvSpPr txBox="1"/>
          <p:nvPr>
            <p:ph type="title"/>
          </p:nvPr>
        </p:nvSpPr>
        <p:spPr>
          <a:xfrm>
            <a:off x="471900" y="984967"/>
            <a:ext cx="8222100" cy="1023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Strengthening Hospital Systems</a:t>
            </a:r>
            <a:endParaRPr/>
          </a:p>
        </p:txBody>
      </p:sp>
      <p:sp>
        <p:nvSpPr>
          <p:cNvPr id="120" name="Google Shape;120;p8"/>
          <p:cNvSpPr txBox="1"/>
          <p:nvPr>
            <p:ph idx="1" type="body"/>
          </p:nvPr>
        </p:nvSpPr>
        <p:spPr>
          <a:xfrm>
            <a:off x="471900" y="2558767"/>
            <a:ext cx="8222100" cy="3613500"/>
          </a:xfrm>
          <a:prstGeom prst="rect">
            <a:avLst/>
          </a:prstGeom>
          <a:noFill/>
          <a:ln>
            <a:noFill/>
          </a:ln>
        </p:spPr>
        <p:txBody>
          <a:bodyPr anchorCtr="0" anchor="t" bIns="45700" lIns="91425" spcFirstLastPara="1" rIns="91425" wrap="square" tIns="45700">
            <a:normAutofit/>
          </a:bodyPr>
          <a:lstStyle/>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Vendor Risk Management</a:t>
            </a:r>
            <a:endParaRPr>
              <a:solidFill>
                <a:schemeClr val="dk2"/>
              </a:solidFill>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Frequent Secure Backups</a:t>
            </a:r>
            <a:endParaRPr>
              <a:solidFill>
                <a:schemeClr val="dk2"/>
              </a:solidFill>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Incident Response Planning</a:t>
            </a:r>
            <a:endParaRPr>
              <a:solidFill>
                <a:schemeClr val="dk2"/>
              </a:solidFill>
            </a:endParaRPr>
          </a:p>
          <a:p>
            <a:pPr indent="-342900" lvl="0" marL="342900" rtl="0" algn="l">
              <a:spcBef>
                <a:spcPts val="640"/>
              </a:spcBef>
              <a:spcAft>
                <a:spcPts val="1200"/>
              </a:spcAft>
              <a:buClr>
                <a:schemeClr val="dk2"/>
              </a:buClr>
              <a:buSzPts val="3200"/>
              <a:buChar char="●"/>
            </a:pPr>
            <a:r>
              <a:rPr lang="en-US" sz="3200">
                <a:solidFill>
                  <a:schemeClr val="dk2"/>
                </a:solidFill>
                <a:latin typeface="Calibri"/>
                <a:ea typeface="Calibri"/>
                <a:cs typeface="Calibri"/>
                <a:sym typeface="Calibri"/>
              </a:rPr>
              <a:t>Penetration Testing</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anim calcmode="lin" valueType="num">
                                      <p:cBhvr additive="base">
                                        <p:cTn dur="1000"/>
                                        <p:tgtEl>
                                          <p:spTgt spid="12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anim calcmode="lin" valueType="num">
                                      <p:cBhvr additive="base">
                                        <p:cTn dur="1000"/>
                                        <p:tgtEl>
                                          <p:spTgt spid="120">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0">
                                            <p:txEl>
                                              <p:pRg end="2" st="2"/>
                                            </p:txEl>
                                          </p:spTgt>
                                        </p:tgtEl>
                                        <p:attrNameLst>
                                          <p:attrName>style.visibility</p:attrName>
                                        </p:attrNameLst>
                                      </p:cBhvr>
                                      <p:to>
                                        <p:strVal val="visible"/>
                                      </p:to>
                                    </p:set>
                                    <p:anim calcmode="lin" valueType="num">
                                      <p:cBhvr additive="base">
                                        <p:cTn dur="1000"/>
                                        <p:tgtEl>
                                          <p:spTgt spid="120">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0">
                                            <p:txEl>
                                              <p:pRg end="3" st="3"/>
                                            </p:txEl>
                                          </p:spTgt>
                                        </p:tgtEl>
                                        <p:attrNameLst>
                                          <p:attrName>style.visibility</p:attrName>
                                        </p:attrNameLst>
                                      </p:cBhvr>
                                      <p:to>
                                        <p:strVal val="visible"/>
                                      </p:to>
                                    </p:set>
                                    <p:anim calcmode="lin" valueType="num">
                                      <p:cBhvr additive="base">
                                        <p:cTn dur="1000"/>
                                        <p:tgtEl>
                                          <p:spTgt spid="120">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24" name="Shape 124"/>
        <p:cNvGrpSpPr/>
        <p:nvPr/>
      </p:nvGrpSpPr>
      <p:grpSpPr>
        <a:xfrm>
          <a:off x="0" y="0"/>
          <a:ext cx="0" cy="0"/>
          <a:chOff x="0" y="0"/>
          <a:chExt cx="0" cy="0"/>
        </a:xfrm>
      </p:grpSpPr>
      <p:sp>
        <p:nvSpPr>
          <p:cNvPr id="125" name="Google Shape;125;p9"/>
          <p:cNvSpPr txBox="1"/>
          <p:nvPr>
            <p:ph type="title"/>
          </p:nvPr>
        </p:nvSpPr>
        <p:spPr>
          <a:xfrm>
            <a:off x="471900" y="984967"/>
            <a:ext cx="8222100" cy="1023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Modern Strategies</a:t>
            </a:r>
            <a:endParaRPr/>
          </a:p>
        </p:txBody>
      </p:sp>
      <p:sp>
        <p:nvSpPr>
          <p:cNvPr id="126" name="Google Shape;126;p9"/>
          <p:cNvSpPr txBox="1"/>
          <p:nvPr>
            <p:ph idx="1" type="body"/>
          </p:nvPr>
        </p:nvSpPr>
        <p:spPr>
          <a:xfrm>
            <a:off x="163225" y="2558775"/>
            <a:ext cx="5386200" cy="3613500"/>
          </a:xfrm>
          <a:prstGeom prst="rect">
            <a:avLst/>
          </a:prstGeom>
          <a:noFill/>
          <a:ln>
            <a:noFill/>
          </a:ln>
        </p:spPr>
        <p:txBody>
          <a:bodyPr anchorCtr="0" anchor="t" bIns="45700" lIns="91425" spcFirstLastPara="1" rIns="91425" wrap="square" tIns="45700">
            <a:normAutofit/>
          </a:bodyPr>
          <a:lstStyle/>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Continuous Monitoring</a:t>
            </a:r>
            <a:endParaRPr sz="3200">
              <a:solidFill>
                <a:schemeClr val="dk2"/>
              </a:solidFill>
              <a:latin typeface="Calibri"/>
              <a:ea typeface="Calibri"/>
              <a:cs typeface="Calibri"/>
              <a:sym typeface="Calibri"/>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Security Awareness Culture</a:t>
            </a:r>
            <a:endParaRPr sz="3200">
              <a:solidFill>
                <a:schemeClr val="dk2"/>
              </a:solidFill>
              <a:latin typeface="Calibri"/>
              <a:ea typeface="Calibri"/>
              <a:cs typeface="Calibri"/>
              <a:sym typeface="Calibri"/>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Zero Trust Architecture</a:t>
            </a:r>
            <a:endParaRPr>
              <a:solidFill>
                <a:schemeClr val="dk2"/>
              </a:solidFill>
            </a:endParaRPr>
          </a:p>
        </p:txBody>
      </p:sp>
      <p:pic>
        <p:nvPicPr>
          <p:cNvPr id="127" name="Google Shape;127;p9"/>
          <p:cNvPicPr preferRelativeResize="0"/>
          <p:nvPr/>
        </p:nvPicPr>
        <p:blipFill>
          <a:blip r:embed="rId3">
            <a:alphaModFix/>
          </a:blip>
          <a:stretch>
            <a:fillRect/>
          </a:stretch>
        </p:blipFill>
        <p:spPr>
          <a:xfrm>
            <a:off x="2185575" y="4804860"/>
            <a:ext cx="4378200" cy="966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6">
                                            <p:txEl>
                                              <p:pRg end="0" st="0"/>
                                            </p:txEl>
                                          </p:spTgt>
                                        </p:tgtEl>
                                        <p:attrNameLst>
                                          <p:attrName>style.visibility</p:attrName>
                                        </p:attrNameLst>
                                      </p:cBhvr>
                                      <p:to>
                                        <p:strVal val="visible"/>
                                      </p:to>
                                    </p:set>
                                    <p:anim calcmode="lin" valueType="num">
                                      <p:cBhvr additive="base">
                                        <p:cTn dur="1000"/>
                                        <p:tgtEl>
                                          <p:spTgt spid="12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6">
                                            <p:txEl>
                                              <p:pRg end="1" st="1"/>
                                            </p:txEl>
                                          </p:spTgt>
                                        </p:tgtEl>
                                        <p:attrNameLst>
                                          <p:attrName>style.visibility</p:attrName>
                                        </p:attrNameLst>
                                      </p:cBhvr>
                                      <p:to>
                                        <p:strVal val="visible"/>
                                      </p:to>
                                    </p:set>
                                    <p:anim calcmode="lin" valueType="num">
                                      <p:cBhvr additive="base">
                                        <p:cTn dur="1000"/>
                                        <p:tgtEl>
                                          <p:spTgt spid="126">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6">
                                            <p:txEl>
                                              <p:pRg end="2" st="2"/>
                                            </p:txEl>
                                          </p:spTgt>
                                        </p:tgtEl>
                                        <p:attrNameLst>
                                          <p:attrName>style.visibility</p:attrName>
                                        </p:attrNameLst>
                                      </p:cBhvr>
                                      <p:to>
                                        <p:strVal val="visible"/>
                                      </p:to>
                                    </p:set>
                                    <p:anim calcmode="lin" valueType="num">
                                      <p:cBhvr additive="base">
                                        <p:cTn dur="1000"/>
                                        <p:tgtEl>
                                          <p:spTgt spid="126">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31" name="Shape 131"/>
        <p:cNvGrpSpPr/>
        <p:nvPr/>
      </p:nvGrpSpPr>
      <p:grpSpPr>
        <a:xfrm>
          <a:off x="0" y="0"/>
          <a:ext cx="0" cy="0"/>
          <a:chOff x="0" y="0"/>
          <a:chExt cx="0" cy="0"/>
        </a:xfrm>
      </p:grpSpPr>
      <p:sp>
        <p:nvSpPr>
          <p:cNvPr id="132" name="Google Shape;132;p10"/>
          <p:cNvSpPr txBox="1"/>
          <p:nvPr>
            <p:ph type="title"/>
          </p:nvPr>
        </p:nvSpPr>
        <p:spPr>
          <a:xfrm>
            <a:off x="471900" y="984967"/>
            <a:ext cx="8222100" cy="1023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Successful Defense Example</a:t>
            </a:r>
            <a:endParaRPr/>
          </a:p>
        </p:txBody>
      </p:sp>
      <p:sp>
        <p:nvSpPr>
          <p:cNvPr id="133" name="Google Shape;133;p10"/>
          <p:cNvSpPr txBox="1"/>
          <p:nvPr>
            <p:ph idx="1" type="body"/>
          </p:nvPr>
        </p:nvSpPr>
        <p:spPr>
          <a:xfrm>
            <a:off x="471900" y="2558767"/>
            <a:ext cx="8222100" cy="3613500"/>
          </a:xfrm>
          <a:prstGeom prst="rect">
            <a:avLst/>
          </a:prstGeom>
          <a:noFill/>
          <a:ln>
            <a:noFill/>
          </a:ln>
        </p:spPr>
        <p:txBody>
          <a:bodyPr anchorCtr="0" anchor="t" bIns="45700" lIns="91425" spcFirstLastPara="1" rIns="91425" wrap="square" tIns="45700">
            <a:normAutofit/>
          </a:bodyPr>
          <a:lstStyle/>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California hospital in 2022 avoided paying ransom.</a:t>
            </a:r>
            <a:endParaRPr>
              <a:solidFill>
                <a:schemeClr val="dk2"/>
              </a:solidFill>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Quick isolation and recovery from secure backups.</a:t>
            </a:r>
            <a:endParaRPr>
              <a:solidFill>
                <a:schemeClr val="dk2"/>
              </a:solidFill>
            </a:endParaRPr>
          </a:p>
          <a:p>
            <a:pPr indent="-342900" lvl="0" marL="342900" rtl="0" algn="l">
              <a:spcBef>
                <a:spcPts val="640"/>
              </a:spcBef>
              <a:spcAft>
                <a:spcPts val="1200"/>
              </a:spcAft>
              <a:buClr>
                <a:schemeClr val="dk2"/>
              </a:buClr>
              <a:buSzPts val="3200"/>
              <a:buChar char="●"/>
            </a:pPr>
            <a:r>
              <a:rPr lang="en-US" sz="3200">
                <a:solidFill>
                  <a:schemeClr val="dk2"/>
                </a:solidFill>
                <a:latin typeface="Calibri"/>
                <a:ea typeface="Calibri"/>
                <a:cs typeface="Calibri"/>
                <a:sym typeface="Calibri"/>
              </a:rPr>
              <a:t>Effective staff training and response planning.</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anim calcmode="lin" valueType="num">
                                      <p:cBhvr additive="base">
                                        <p:cTn dur="1000"/>
                                        <p:tgtEl>
                                          <p:spTgt spid="13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anim calcmode="lin" valueType="num">
                                      <p:cBhvr additive="base">
                                        <p:cTn dur="1000"/>
                                        <p:tgtEl>
                                          <p:spTgt spid="13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anim calcmode="lin" valueType="num">
                                      <p:cBhvr additive="base">
                                        <p:cTn dur="1000"/>
                                        <p:tgtEl>
                                          <p:spTgt spid="13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37" name="Shape 137"/>
        <p:cNvGrpSpPr/>
        <p:nvPr/>
      </p:nvGrpSpPr>
      <p:grpSpPr>
        <a:xfrm>
          <a:off x="0" y="0"/>
          <a:ext cx="0" cy="0"/>
          <a:chOff x="0" y="0"/>
          <a:chExt cx="0" cy="0"/>
        </a:xfrm>
      </p:grpSpPr>
      <p:sp>
        <p:nvSpPr>
          <p:cNvPr id="138" name="Google Shape;138;p11"/>
          <p:cNvSpPr txBox="1"/>
          <p:nvPr>
            <p:ph type="title"/>
          </p:nvPr>
        </p:nvSpPr>
        <p:spPr>
          <a:xfrm>
            <a:off x="471900" y="984967"/>
            <a:ext cx="8222100" cy="1023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Conclusion</a:t>
            </a:r>
            <a:endParaRPr/>
          </a:p>
        </p:txBody>
      </p:sp>
      <p:sp>
        <p:nvSpPr>
          <p:cNvPr id="139" name="Google Shape;139;p11"/>
          <p:cNvSpPr txBox="1"/>
          <p:nvPr>
            <p:ph idx="1" type="body"/>
          </p:nvPr>
        </p:nvSpPr>
        <p:spPr>
          <a:xfrm>
            <a:off x="471900" y="2558767"/>
            <a:ext cx="8222100" cy="3613500"/>
          </a:xfrm>
          <a:prstGeom prst="rect">
            <a:avLst/>
          </a:prstGeom>
          <a:noFill/>
          <a:ln>
            <a:noFill/>
          </a:ln>
        </p:spPr>
        <p:txBody>
          <a:bodyPr anchorCtr="0" anchor="t" bIns="45700" lIns="91425" spcFirstLastPara="1" rIns="91425" wrap="square" tIns="45700">
            <a:normAutofit/>
          </a:bodyPr>
          <a:lstStyle/>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Cybersecurity is essential for patient safety.</a:t>
            </a:r>
            <a:endParaRPr>
              <a:solidFill>
                <a:schemeClr val="dk2"/>
              </a:solidFill>
            </a:endParaRPr>
          </a:p>
          <a:p>
            <a:pPr indent="-342900" lvl="0" marL="342900" rtl="0" algn="l">
              <a:spcBef>
                <a:spcPts val="640"/>
              </a:spcBef>
              <a:spcAft>
                <a:spcPts val="0"/>
              </a:spcAft>
              <a:buClr>
                <a:schemeClr val="dk2"/>
              </a:buClr>
              <a:buSzPts val="3200"/>
              <a:buChar char="●"/>
            </a:pPr>
            <a:r>
              <a:rPr lang="en-US" sz="3200">
                <a:solidFill>
                  <a:schemeClr val="dk2"/>
                </a:solidFill>
                <a:latin typeface="Calibri"/>
                <a:ea typeface="Calibri"/>
                <a:cs typeface="Calibri"/>
                <a:sym typeface="Calibri"/>
              </a:rPr>
              <a:t>Preparation today protects lives tomorrow.</a:t>
            </a:r>
            <a:endParaRPr>
              <a:solidFill>
                <a:schemeClr val="dk2"/>
              </a:solidFill>
            </a:endParaRPr>
          </a:p>
          <a:p>
            <a:pPr indent="-342900" lvl="0" marL="342900" rtl="0" algn="l">
              <a:spcBef>
                <a:spcPts val="640"/>
              </a:spcBef>
              <a:spcAft>
                <a:spcPts val="1200"/>
              </a:spcAft>
              <a:buClr>
                <a:schemeClr val="dk2"/>
              </a:buClr>
              <a:buSzPts val="3200"/>
              <a:buChar char="●"/>
            </a:pPr>
            <a:r>
              <a:rPr lang="en-US" sz="3200">
                <a:solidFill>
                  <a:schemeClr val="dk2"/>
                </a:solidFill>
                <a:latin typeface="Calibri"/>
                <a:ea typeface="Calibri"/>
                <a:cs typeface="Calibri"/>
                <a:sym typeface="Calibri"/>
              </a:rPr>
              <a:t>Hospitals must invest in layered defenses.</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anim calcmode="lin" valueType="num">
                                      <p:cBhvr additive="base">
                                        <p:cTn dur="1000"/>
                                        <p:tgtEl>
                                          <p:spTgt spid="13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anim calcmode="lin" valueType="num">
                                      <p:cBhvr additive="base">
                                        <p:cTn dur="1000"/>
                                        <p:tgtEl>
                                          <p:spTgt spid="13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anim calcmode="lin" valueType="num">
                                      <p:cBhvr additive="base">
                                        <p:cTn dur="1000"/>
                                        <p:tgtEl>
                                          <p:spTgt spid="139">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43" name="Shape 143"/>
        <p:cNvGrpSpPr/>
        <p:nvPr/>
      </p:nvGrpSpPr>
      <p:grpSpPr>
        <a:xfrm>
          <a:off x="0" y="0"/>
          <a:ext cx="0" cy="0"/>
          <a:chOff x="0" y="0"/>
          <a:chExt cx="0" cy="0"/>
        </a:xfrm>
      </p:grpSpPr>
      <p:sp>
        <p:nvSpPr>
          <p:cNvPr id="144" name="Google Shape;144;p12"/>
          <p:cNvSpPr txBox="1"/>
          <p:nvPr>
            <p:ph type="ctrTitle"/>
          </p:nvPr>
        </p:nvSpPr>
        <p:spPr>
          <a:xfrm>
            <a:off x="390525" y="2425700"/>
            <a:ext cx="8222100" cy="1244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latin typeface="Calibri"/>
                <a:ea typeface="Calibri"/>
                <a:cs typeface="Calibri"/>
                <a:sym typeface="Calibri"/>
              </a:rPr>
              <a:t>Thank You</a:t>
            </a:r>
            <a:endParaRPr/>
          </a:p>
        </p:txBody>
      </p:sp>
      <p:sp>
        <p:nvSpPr>
          <p:cNvPr id="145" name="Google Shape;145;p12"/>
          <p:cNvSpPr txBox="1"/>
          <p:nvPr>
            <p:ph idx="1" type="subTitle"/>
          </p:nvPr>
        </p:nvSpPr>
        <p:spPr>
          <a:xfrm>
            <a:off x="390525" y="3718840"/>
            <a:ext cx="8222100" cy="577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888888"/>
              </a:buClr>
              <a:buSzPts val="32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D9EEB"/>
        </a:solidFill>
      </p:bgPr>
    </p:bg>
    <p:spTree>
      <p:nvGrpSpPr>
        <p:cNvPr id="149" name="Shape 149"/>
        <p:cNvGrpSpPr/>
        <p:nvPr/>
      </p:nvGrpSpPr>
      <p:grpSpPr>
        <a:xfrm>
          <a:off x="0" y="0"/>
          <a:ext cx="0" cy="0"/>
          <a:chOff x="0" y="0"/>
          <a:chExt cx="0" cy="0"/>
        </a:xfrm>
      </p:grpSpPr>
      <p:sp>
        <p:nvSpPr>
          <p:cNvPr id="150" name="Google Shape;150;g351b009c4e4_1_120"/>
          <p:cNvSpPr txBox="1"/>
          <p:nvPr>
            <p:ph type="title"/>
          </p:nvPr>
        </p:nvSpPr>
        <p:spPr>
          <a:xfrm>
            <a:off x="98250" y="21800"/>
            <a:ext cx="8826600" cy="803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sz="3500">
                <a:latin typeface="Calibri"/>
                <a:ea typeface="Calibri"/>
                <a:cs typeface="Calibri"/>
                <a:sym typeface="Calibri"/>
              </a:rPr>
              <a:t>Resources</a:t>
            </a:r>
            <a:endParaRPr sz="3500">
              <a:latin typeface="Calibri"/>
              <a:ea typeface="Calibri"/>
              <a:cs typeface="Calibri"/>
              <a:sym typeface="Calibri"/>
            </a:endParaRPr>
          </a:p>
        </p:txBody>
      </p:sp>
      <p:sp>
        <p:nvSpPr>
          <p:cNvPr id="151" name="Google Shape;151;g351b009c4e4_1_120"/>
          <p:cNvSpPr txBox="1"/>
          <p:nvPr/>
        </p:nvSpPr>
        <p:spPr>
          <a:xfrm>
            <a:off x="442875" y="1248125"/>
            <a:ext cx="8106300" cy="5207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Roboto"/>
              <a:buChar char="●"/>
            </a:pPr>
            <a:r>
              <a:rPr lang="en-US" sz="1800" u="sng">
                <a:solidFill>
                  <a:schemeClr val="hlink"/>
                </a:solidFill>
                <a:latin typeface="Roboto"/>
                <a:ea typeface="Roboto"/>
                <a:cs typeface="Roboto"/>
                <a:sym typeface="Roboto"/>
                <a:hlinkClick r:id="rId3"/>
              </a:rPr>
              <a:t>https://www.chiefhealthcareexecutive.com/view/average-cost-of-healthcare-data-breach-rises-to-nearly-11m</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US" sz="1800" u="sng">
                <a:solidFill>
                  <a:schemeClr val="hlink"/>
                </a:solidFill>
                <a:latin typeface="Roboto"/>
                <a:ea typeface="Roboto"/>
                <a:cs typeface="Roboto"/>
                <a:sym typeface="Roboto"/>
                <a:hlinkClick r:id="rId4"/>
              </a:rPr>
              <a:t>https://www.fiercehealthcare.com/health-tech/healthcare-remains-top-target-cybercriminals-uptick-hacking-attacks-2024</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US" sz="1800" u="sng">
                <a:solidFill>
                  <a:schemeClr val="hlink"/>
                </a:solidFill>
                <a:latin typeface="Roboto"/>
                <a:ea typeface="Roboto"/>
                <a:cs typeface="Roboto"/>
                <a:sym typeface="Roboto"/>
                <a:hlinkClick r:id="rId5"/>
              </a:rPr>
              <a:t>https://cybelangel.com/healthcare-industry-guide-cyber/</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US" sz="1800" u="sng">
                <a:solidFill>
                  <a:schemeClr val="hlink"/>
                </a:solidFill>
                <a:latin typeface="Roboto"/>
                <a:ea typeface="Roboto"/>
                <a:cs typeface="Roboto"/>
                <a:sym typeface="Roboto"/>
                <a:hlinkClick r:id="rId6"/>
              </a:rPr>
              <a:t>https://www.cyberpolicy.com/cybersecurity-education/why-medical-records-are-10-times-more-valuable-than-credit-card-info</a:t>
            </a:r>
            <a:endParaRPr sz="1800">
              <a:solidFill>
                <a:schemeClr val="dk2"/>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